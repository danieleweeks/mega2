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1089600" cy="40233600"/>
  <p:notesSz cx="6858000" cy="9144000"/>
  <p:defaultTextStyle>
    <a:defPPr>
      <a:defRPr lang="en-US"/>
    </a:defPPr>
    <a:lvl1pPr marL="0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2680" autoAdjust="0"/>
  </p:normalViewPr>
  <p:slideViewPr>
    <p:cSldViewPr snapToGrid="0" snapToObjects="1">
      <p:cViewPr>
        <p:scale>
          <a:sx n="37" d="100"/>
          <a:sy n="37" d="100"/>
        </p:scale>
        <p:origin x="-216" y="2312"/>
      </p:cViewPr>
      <p:guideLst>
        <p:guide orient="horz" pos="12672"/>
        <p:guide pos="97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985E0-AC7B-3D4C-A5BD-9CFE8A2EAC6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DC77-D9DD-404A-BB8E-59D250F344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9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 smtClean="0">
                <a:solidFill>
                  <a:srgbClr val="4A4A4A"/>
                </a:solidFill>
                <a:latin typeface="TrebuchetMS"/>
              </a:rPr>
              <a:t>Each author will </a:t>
            </a:r>
            <a:r>
              <a:rPr lang="en-US" sz="5400" b="1" u="sng" dirty="0" smtClean="0">
                <a:solidFill>
                  <a:srgbClr val="4A4A4A"/>
                </a:solidFill>
                <a:latin typeface="TrebuchetMS"/>
              </a:rPr>
              <a:t>share a 6’ poster board with another author, and each will have a useable area measuring 2'10" (86.36 cm) wide x 3'8" (111.8 cm) high. This is a portrait/vertical format. Poster materials may not extend outside the assigned half-board</a:t>
            </a:r>
          </a:p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1" u="sng" dirty="0" smtClean="0">
              <a:solidFill>
                <a:srgbClr val="4A4A4A"/>
              </a:solidFill>
              <a:latin typeface="TrebuchetMS"/>
            </a:endParaRPr>
          </a:p>
          <a:p>
            <a:pPr marL="0" marR="0" indent="0" algn="l" defTabSz="20377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u="sng" smtClean="0">
                <a:solidFill>
                  <a:srgbClr val="4A4A4A"/>
                </a:solidFill>
                <a:latin typeface="TrebuchetMS"/>
              </a:rPr>
              <a:t>REV #2 9/19/2013</a:t>
            </a:r>
            <a:endParaRPr lang="en-US" sz="5400" b="1" u="sng" dirty="0" smtClean="0">
              <a:solidFill>
                <a:srgbClr val="4A4A4A"/>
              </a:solidFill>
              <a:latin typeface="Trebuchet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0DC77-D9DD-404A-BB8E-59D250F3443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12498496"/>
            <a:ext cx="26426160" cy="862414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0" y="22799040"/>
            <a:ext cx="21762720" cy="10281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7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75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13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51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864" y="25853816"/>
            <a:ext cx="26426160" cy="7990840"/>
          </a:xfrm>
        </p:spPr>
        <p:txBody>
          <a:bodyPr anchor="t"/>
          <a:lstStyle>
            <a:lvl1pPr algn="l">
              <a:defRPr sz="1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5864" y="17052719"/>
            <a:ext cx="26426160" cy="8801097"/>
          </a:xfrm>
        </p:spPr>
        <p:txBody>
          <a:bodyPr anchor="b"/>
          <a:lstStyle>
            <a:lvl1pPr marL="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1pPr>
            <a:lvl2pPr marL="2037786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4075572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113358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4pPr>
            <a:lvl5pPr marL="8151144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44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03880" y="9387843"/>
            <a:ext cx="13731240" cy="26552316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005996"/>
            <a:ext cx="13736639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12759266"/>
            <a:ext cx="13736639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93087" y="9005996"/>
            <a:ext cx="13742035" cy="3753270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93087" y="12759266"/>
            <a:ext cx="13742035" cy="23180890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1601893"/>
            <a:ext cx="10228264" cy="6817360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5170" y="1601896"/>
            <a:ext cx="17379950" cy="34338263"/>
          </a:xfrm>
        </p:spPr>
        <p:txBody>
          <a:bodyPr/>
          <a:lstStyle>
            <a:lvl1pPr>
              <a:defRPr sz="14300"/>
            </a:lvl1pPr>
            <a:lvl2pPr>
              <a:defRPr sz="12500"/>
            </a:lvl2pPr>
            <a:lvl3pPr>
              <a:defRPr sz="107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2" y="8419256"/>
            <a:ext cx="10228264" cy="27520903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779" y="28163520"/>
            <a:ext cx="18653760" cy="3324863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3779" y="3594947"/>
            <a:ext cx="18653760" cy="24140160"/>
          </a:xfrm>
        </p:spPr>
        <p:txBody>
          <a:bodyPr/>
          <a:lstStyle>
            <a:lvl1pPr marL="0" indent="0">
              <a:buNone/>
              <a:defRPr sz="14300"/>
            </a:lvl1pPr>
            <a:lvl2pPr marL="2037786" indent="0">
              <a:buNone/>
              <a:defRPr sz="12500"/>
            </a:lvl2pPr>
            <a:lvl3pPr marL="4075572" indent="0">
              <a:buNone/>
              <a:defRPr sz="10700"/>
            </a:lvl3pPr>
            <a:lvl4pPr marL="6113358" indent="0">
              <a:buNone/>
              <a:defRPr sz="8900"/>
            </a:lvl4pPr>
            <a:lvl5pPr marL="8151144" indent="0">
              <a:buNone/>
              <a:defRPr sz="8900"/>
            </a:lvl5pPr>
            <a:lvl6pPr marL="10188931" indent="0">
              <a:buNone/>
              <a:defRPr sz="8900"/>
            </a:lvl6pPr>
            <a:lvl7pPr marL="12226717" indent="0">
              <a:buNone/>
              <a:defRPr sz="8900"/>
            </a:lvl7pPr>
            <a:lvl8pPr marL="14264503" indent="0">
              <a:buNone/>
              <a:defRPr sz="8900"/>
            </a:lvl8pPr>
            <a:lvl9pPr marL="16302289" indent="0">
              <a:buNone/>
              <a:defRPr sz="8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779" y="31488383"/>
            <a:ext cx="18653760" cy="4721857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539960" y="1611212"/>
            <a:ext cx="6995160" cy="343289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80" y="1611212"/>
            <a:ext cx="20467320" cy="343289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0" y="1611210"/>
            <a:ext cx="27980640" cy="6705600"/>
          </a:xfrm>
          <a:prstGeom prst="rect">
            <a:avLst/>
          </a:prstGeom>
        </p:spPr>
        <p:txBody>
          <a:bodyPr vert="horz" lIns="407557" tIns="203779" rIns="407557" bIns="20377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387843"/>
            <a:ext cx="27980640" cy="26552316"/>
          </a:xfrm>
          <a:prstGeom prst="rect">
            <a:avLst/>
          </a:prstGeom>
        </p:spPr>
        <p:txBody>
          <a:bodyPr vert="horz" lIns="407557" tIns="203779" rIns="407557" bIns="2037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4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C0A24-95E3-E24B-9E79-9271EC8244CA}" type="datetimeFigureOut">
              <a:rPr lang="en-US" smtClean="0"/>
              <a:pPr/>
              <a:t>9/20/13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22280" y="37290589"/>
            <a:ext cx="98450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280880" y="37290589"/>
            <a:ext cx="7254240" cy="2142067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C57C-8F1E-CC4D-BE8A-CA571E16E4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37786" rtl="0" eaLnBrk="1" latinLnBrk="0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8340" indent="-1528340" algn="l" defTabSz="2037786" rtl="0" eaLnBrk="1" latinLnBrk="0" hangingPunct="1">
        <a:spcBef>
          <a:spcPct val="20000"/>
        </a:spcBef>
        <a:buFont typeface="Arial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1402" indent="-1273616" algn="l" defTabSz="2037786" rtl="0" eaLnBrk="1" latinLnBrk="0" hangingPunct="1">
        <a:spcBef>
          <a:spcPct val="20000"/>
        </a:spcBef>
        <a:buFont typeface="Arial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094465" indent="-1018893" algn="l" defTabSz="2037786" rtl="0" eaLnBrk="1" latinLnBrk="0" hangingPunct="1">
        <a:spcBef>
          <a:spcPct val="20000"/>
        </a:spcBef>
        <a:buFont typeface="Arial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32251" indent="-1018893" algn="l" defTabSz="2037786" rtl="0" eaLnBrk="1" latinLnBrk="0" hangingPunct="1">
        <a:spcBef>
          <a:spcPct val="20000"/>
        </a:spcBef>
        <a:buFont typeface="Arial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170038" indent="-1018893" algn="l" defTabSz="2037786" rtl="0" eaLnBrk="1" latinLnBrk="0" hangingPunct="1">
        <a:spcBef>
          <a:spcPct val="20000"/>
        </a:spcBef>
        <a:buFont typeface="Arial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207824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245610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283396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7321182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037786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4075572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113358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151144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8931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717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4264503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6302289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atson.hgen.pitt.edu/register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8307" y="1039789"/>
            <a:ext cx="25013387" cy="31547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Mega2 (Manipulation Environment for Genetic Analysis)</a:t>
            </a:r>
          </a:p>
          <a:p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C.P. Kollar</a:t>
            </a:r>
            <a:r>
              <a:rPr lang="en-US" sz="4700" baseline="300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R. V. Baron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N. Mukhopadhyay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, D.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E.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Weeks</a:t>
            </a:r>
            <a:r>
              <a:rPr lang="en-US" sz="4700" baseline="30000" dirty="0" smtClean="0">
                <a:solidFill>
                  <a:schemeClr val="accent1">
                    <a:lumMod val="75000"/>
                  </a:schemeClr>
                </a:solidFill>
              </a:rPr>
              <a:t>1,</a:t>
            </a:r>
            <a:r>
              <a:rPr lang="en-US" sz="4700" baseline="3000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 1) Department of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Human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Genetics; 2) Department of Oral Biology, 3) Department of 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Biostatistics, </a:t>
            </a:r>
            <a:r>
              <a:rPr lang="en-US" sz="4700" dirty="0" smtClean="0">
                <a:solidFill>
                  <a:schemeClr val="accent1">
                    <a:lumMod val="75000"/>
                  </a:schemeClr>
                </a:solidFill>
              </a:rPr>
              <a:t>University of Pittsburgh, Pittsburgh</a:t>
            </a:r>
            <a:r>
              <a:rPr lang="en-US" sz="4700" dirty="0">
                <a:solidFill>
                  <a:schemeClr val="accent1">
                    <a:lumMod val="75000"/>
                  </a:schemeClr>
                </a:solidFill>
              </a:rPr>
              <a:t>, PA.</a:t>
            </a:r>
            <a:r>
              <a:rPr lang="en-US" sz="72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endParaRPr lang="en-US" sz="7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142942" y="7620570"/>
            <a:ext cx="11639621" cy="28476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301779" y="4945268"/>
            <a:ext cx="11557338" cy="318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 smtClean="0">
                <a:solidFill>
                  <a:srgbClr val="953735"/>
                </a:solidFill>
              </a:rPr>
              <a:t>What is Mega2:</a:t>
            </a:r>
            <a:endParaRPr lang="en-US" sz="5200" b="1" dirty="0">
              <a:solidFill>
                <a:srgbClr val="953735"/>
              </a:solidFill>
            </a:endParaRPr>
          </a:p>
          <a:p>
            <a:r>
              <a:rPr lang="en-US" sz="5200" dirty="0" smtClean="0"/>
              <a:t>Data reformatting tool for genetic analysis</a:t>
            </a:r>
            <a:endParaRPr lang="en-US" sz="5200" b="1" dirty="0" smtClean="0">
              <a:solidFill>
                <a:srgbClr val="953735"/>
              </a:solidFill>
            </a:endParaRPr>
          </a:p>
          <a:p>
            <a:r>
              <a:rPr lang="en-US" sz="5200" b="1" dirty="0">
                <a:solidFill>
                  <a:srgbClr val="953735"/>
                </a:solidFill>
              </a:rPr>
              <a:t>Motivation: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Need to use more than one analysis type in a study.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Analysis data formats differ and writing  custom transformation scripts is error prone.</a:t>
            </a:r>
          </a:p>
          <a:p>
            <a:r>
              <a:rPr lang="en-US" sz="5200" b="1" dirty="0" smtClean="0">
                <a:solidFill>
                  <a:srgbClr val="953735"/>
                </a:solidFill>
              </a:rPr>
              <a:t>Features: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</a:t>
            </a:r>
            <a:r>
              <a:rPr lang="en-US" sz="5200" dirty="0"/>
              <a:t>A</a:t>
            </a:r>
            <a:r>
              <a:rPr lang="en-US" sz="5200" dirty="0" smtClean="0"/>
              <a:t>nalysis-ready datasets for 37 different genetic analysis programs.</a:t>
            </a:r>
          </a:p>
          <a:p>
            <a:pPr>
              <a:buFont typeface="Arial"/>
              <a:buChar char="•"/>
            </a:pPr>
            <a:r>
              <a:rPr lang="en-US" sz="5200" dirty="0"/>
              <a:t> </a:t>
            </a:r>
            <a:r>
              <a:rPr lang="en-US" sz="5200" dirty="0" smtClean="0"/>
              <a:t>Allows filtering of data.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Eliminates the need to write custom data transformation scripts.</a:t>
            </a:r>
          </a:p>
          <a:p>
            <a:endParaRPr lang="en-US" sz="1200" dirty="0" smtClean="0"/>
          </a:p>
          <a:p>
            <a:r>
              <a:rPr lang="en-US" sz="5200" b="1" dirty="0" smtClean="0">
                <a:solidFill>
                  <a:srgbClr val="953735"/>
                </a:solidFill>
              </a:rPr>
              <a:t>Recent improvements: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Addition </a:t>
            </a:r>
            <a:r>
              <a:rPr lang="en-US" sz="5200" dirty="0"/>
              <a:t>of </a:t>
            </a:r>
            <a:r>
              <a:rPr lang="en-US" sz="5200" dirty="0" smtClean="0"/>
              <a:t>11 </a:t>
            </a:r>
            <a:r>
              <a:rPr lang="en-US" sz="5200" dirty="0"/>
              <a:t>analysis output formats</a:t>
            </a:r>
            <a:r>
              <a:rPr lang="en-US" sz="5200" dirty="0" smtClean="0"/>
              <a:t>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Speed and memory footprint for large-scale data handling.</a:t>
            </a:r>
          </a:p>
          <a:p>
            <a:pPr>
              <a:buFont typeface="Arial"/>
              <a:buChar char="•"/>
            </a:pPr>
            <a:endParaRPr lang="en-US" sz="5200" dirty="0" smtClean="0"/>
          </a:p>
          <a:p>
            <a:r>
              <a:rPr lang="en-US" sz="5200" dirty="0">
                <a:solidFill>
                  <a:srgbClr val="3366FF"/>
                </a:solidFill>
              </a:rPr>
              <a:t> </a:t>
            </a:r>
            <a:r>
              <a:rPr lang="en-US" sz="5200" dirty="0" smtClean="0">
                <a:solidFill>
                  <a:srgbClr val="3366FF"/>
                </a:solidFill>
              </a:rPr>
              <a:t>   2K individuals, 1 trait, 12K markers</a:t>
            </a:r>
          </a:p>
          <a:p>
            <a:r>
              <a:rPr lang="en-US" sz="5200" dirty="0" smtClean="0">
                <a:solidFill>
                  <a:srgbClr val="3366FF"/>
                </a:solidFill>
              </a:rPr>
              <a:t>    processing speed halved.</a:t>
            </a:r>
          </a:p>
          <a:p>
            <a:endParaRPr lang="en-US" sz="5200" dirty="0" smtClean="0">
              <a:solidFill>
                <a:srgbClr val="3366FF"/>
              </a:solidFill>
            </a:endParaRPr>
          </a:p>
          <a:p>
            <a:r>
              <a:rPr lang="en-US" sz="5200" dirty="0" smtClean="0">
                <a:solidFill>
                  <a:srgbClr val="3366FF"/>
                </a:solidFill>
              </a:rPr>
              <a:t>    2K individuals, 700K markers</a:t>
            </a:r>
          </a:p>
          <a:p>
            <a:r>
              <a:rPr lang="en-US" sz="5200" dirty="0">
                <a:solidFill>
                  <a:srgbClr val="3366FF"/>
                </a:solidFill>
              </a:rPr>
              <a:t> </a:t>
            </a:r>
            <a:r>
              <a:rPr lang="en-US" sz="5200" dirty="0" smtClean="0">
                <a:solidFill>
                  <a:srgbClr val="3366FF"/>
                </a:solidFill>
              </a:rPr>
              <a:t>   1Gb RAM for data.</a:t>
            </a:r>
          </a:p>
          <a:p>
            <a:endParaRPr lang="en-US" sz="5200" dirty="0" smtClean="0">
              <a:solidFill>
                <a:srgbClr val="3366FF"/>
              </a:solidFill>
            </a:endParaRPr>
          </a:p>
          <a:p>
            <a:r>
              <a:rPr lang="en-US" sz="5200" b="1" dirty="0" smtClean="0">
                <a:solidFill>
                  <a:srgbClr val="953735"/>
                </a:solidFill>
              </a:rPr>
              <a:t>Availability:</a:t>
            </a:r>
          </a:p>
          <a:p>
            <a:pPr>
              <a:buFont typeface="Arial"/>
              <a:buChar char="•"/>
            </a:pPr>
            <a:r>
              <a:rPr lang="en-US" sz="5200" dirty="0"/>
              <a:t> Open source (C++) implementation freely available</a:t>
            </a:r>
            <a:r>
              <a:rPr lang="en-US" sz="5200" dirty="0" smtClean="0"/>
              <a:t>.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</a:t>
            </a:r>
            <a:r>
              <a:rPr lang="en-US" sz="5200" dirty="0"/>
              <a:t>Runs on Linux, Mac, Solaris, and Windows (binaries available </a:t>
            </a:r>
            <a:r>
              <a:rPr lang="en-US" sz="5200" dirty="0" smtClean="0"/>
              <a:t>for </a:t>
            </a:r>
            <a:r>
              <a:rPr lang="en-US" sz="5200" dirty="0"/>
              <a:t>popular platforms)</a:t>
            </a:r>
          </a:p>
          <a:p>
            <a:pPr>
              <a:buFont typeface="Arial"/>
              <a:buChar char="•"/>
            </a:pPr>
            <a:r>
              <a:rPr lang="en-US" sz="5200" dirty="0" smtClean="0"/>
              <a:t> Full </a:t>
            </a:r>
            <a:r>
              <a:rPr lang="en-US" sz="5200" dirty="0"/>
              <a:t>documentation.</a:t>
            </a:r>
          </a:p>
          <a:p>
            <a:pPr>
              <a:buFont typeface="Arial"/>
              <a:buChar char="•"/>
            </a:pPr>
            <a:r>
              <a:rPr lang="en-US" sz="5200" dirty="0"/>
              <a:t> Prompt friendly technical support.</a:t>
            </a:r>
          </a:p>
          <a:p>
            <a:pPr>
              <a:buFont typeface="Arial"/>
              <a:buChar char="•"/>
            </a:pPr>
            <a:r>
              <a:rPr lang="en-US" sz="5200" dirty="0"/>
              <a:t> Under continuous development and maintenance.</a:t>
            </a:r>
          </a:p>
          <a:p>
            <a:endParaRPr lang="en-US" sz="5200" b="1" dirty="0">
              <a:solidFill>
                <a:srgbClr val="953735"/>
              </a:solidFill>
            </a:endParaRPr>
          </a:p>
          <a:p>
            <a:r>
              <a:rPr lang="en-US" sz="5200" dirty="0">
                <a:hlinkClick r:id="rId3"/>
              </a:rPr>
              <a:t>http://watson.hgen.pitt.edu/register/</a:t>
            </a:r>
            <a:endParaRPr lang="en-US" sz="5200" dirty="0"/>
          </a:p>
          <a:p>
            <a:endParaRPr lang="en-US" sz="5200" dirty="0" smtClean="0"/>
          </a:p>
          <a:p>
            <a:endParaRPr lang="en-US" sz="2500" dirty="0" smtClean="0"/>
          </a:p>
        </p:txBody>
      </p:sp>
      <p:pic>
        <p:nvPicPr>
          <p:cNvPr id="16" name="Picture 15" descr="2000px-UofPittsburgh_Seal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80" y="66840"/>
            <a:ext cx="4812580" cy="50724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1779" y="37917400"/>
            <a:ext cx="298009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 smtClean="0">
                <a:solidFill>
                  <a:srgbClr val="953735"/>
                </a:solidFill>
              </a:rPr>
              <a:t>Reference:</a:t>
            </a:r>
            <a:r>
              <a:rPr lang="en-US" sz="5200" b="1" dirty="0">
                <a:solidFill>
                  <a:srgbClr val="953735"/>
                </a:solidFill>
              </a:rPr>
              <a:t> </a:t>
            </a:r>
            <a:r>
              <a:rPr lang="en-US" sz="4000" dirty="0" err="1" smtClean="0"/>
              <a:t>Mukhopadhyay</a:t>
            </a:r>
            <a:r>
              <a:rPr lang="en-US" sz="4000" dirty="0" smtClean="0"/>
              <a:t> N, </a:t>
            </a:r>
            <a:r>
              <a:rPr lang="en-US" sz="4000" dirty="0" err="1" smtClean="0"/>
              <a:t>Almasy</a:t>
            </a:r>
            <a:r>
              <a:rPr lang="en-US" sz="4000" dirty="0" smtClean="0"/>
              <a:t> L, Schroeder M, </a:t>
            </a:r>
            <a:r>
              <a:rPr lang="en-US" sz="4000" dirty="0" err="1" smtClean="0"/>
              <a:t>Mulvihill</a:t>
            </a:r>
            <a:r>
              <a:rPr lang="en-US" sz="4000" dirty="0" smtClean="0"/>
              <a:t> WP, Weeks DE (2005) Mega2: data-handling for facilitating genetic linkage and association analysis. Bioinformatics. 2005 May 15; 21(10):2556-7. PMID: 15746282</a:t>
            </a:r>
          </a:p>
          <a:p>
            <a:r>
              <a:rPr lang="en-US" sz="5200" b="1" dirty="0" smtClean="0">
                <a:solidFill>
                  <a:srgbClr val="953735"/>
                </a:solidFill>
              </a:rPr>
              <a:t>Acknowledgments:  </a:t>
            </a:r>
            <a:r>
              <a:rPr lang="en-US" sz="4000" dirty="0" smtClean="0"/>
              <a:t>NIH grant R01 GM076667 (PI: Weeks)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89046"/>
              </p:ext>
            </p:extLst>
          </p:nvPr>
        </p:nvGraphicFramePr>
        <p:xfrm>
          <a:off x="13531678" y="30368386"/>
          <a:ext cx="16830016" cy="70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504"/>
                <a:gridCol w="4207504"/>
                <a:gridCol w="4207504"/>
                <a:gridCol w="42075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PLINK/SEQ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Structure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err="1" smtClean="0">
                          <a:solidFill>
                            <a:srgbClr val="FF0000"/>
                          </a:solidFill>
                        </a:rPr>
                        <a:t>Eigenstrat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rgbClr val="FF0000"/>
                          </a:solidFill>
                        </a:rPr>
                        <a:t>Beagle</a:t>
                      </a:r>
                      <a:endParaRPr lang="en-US" sz="5200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Morgan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FBAT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IQLS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Mega2 </a:t>
                      </a:r>
                      <a:r>
                        <a:rPr lang="en-US" sz="5200" dirty="0" err="1" smtClean="0">
                          <a:solidFill>
                            <a:srgbClr val="FF0000"/>
                          </a:solidFill>
                        </a:rPr>
                        <a:t>Annot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err="1" smtClean="0">
                          <a:solidFill>
                            <a:srgbClr val="FF0000"/>
                          </a:solidFill>
                        </a:rPr>
                        <a:t>Cranefoot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PLINK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>
                          <a:solidFill>
                            <a:srgbClr val="FF0000"/>
                          </a:solidFill>
                        </a:rPr>
                        <a:t>SUP</a:t>
                      </a:r>
                      <a:endParaRPr lang="en-US" sz="5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Mendel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Loki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Merlin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PAP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PREST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SimWalk2-NPL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Pre-</a:t>
                      </a:r>
                      <a:r>
                        <a:rPr lang="en-US" sz="5200" dirty="0" err="1" smtClean="0"/>
                        <a:t>makeped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SAGE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MLBQTL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err="1" smtClean="0"/>
                        <a:t>Alegro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HWE test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Linkage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err="1" smtClean="0"/>
                        <a:t>Vitesse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SOLAR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SIMULATE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Homogeneity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SPLINK</a:t>
                      </a:r>
                      <a:endParaRPr lang="en-US" sz="5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SLINK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Nuclear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err="1" smtClean="0"/>
                        <a:t>GeneHunter</a:t>
                      </a:r>
                      <a:r>
                        <a:rPr lang="en-US" sz="5200" dirty="0" smtClean="0"/>
                        <a:t>+</a:t>
                      </a:r>
                      <a:endParaRPr lang="en-US" sz="5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 smtClean="0"/>
                        <a:t>SimWalk2</a:t>
                      </a:r>
                      <a:endParaRPr lang="en-US" sz="5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3531678" y="28986171"/>
            <a:ext cx="692629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Output/Analysis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18554" y="4945610"/>
            <a:ext cx="24038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Input</a:t>
            </a:r>
            <a:endParaRPr 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841349"/>
              </p:ext>
            </p:extLst>
          </p:nvPr>
        </p:nvGraphicFramePr>
        <p:xfrm>
          <a:off x="14118554" y="6333627"/>
          <a:ext cx="16503032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758"/>
                <a:gridCol w="4125758"/>
                <a:gridCol w="4125758"/>
                <a:gridCol w="4125758"/>
              </a:tblGrid>
              <a:tr h="728092"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Annotated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Linkage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PLINK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5200" b="0" i="0" dirty="0" err="1" smtClean="0">
                          <a:solidFill>
                            <a:schemeClr val="tx1"/>
                          </a:solidFill>
                        </a:rPr>
                        <a:t>dbVÖR</a:t>
                      </a:r>
                      <a:r>
                        <a:rPr lang="en-US" sz="5200" b="0" i="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US" sz="52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4118554" y="7829375"/>
            <a:ext cx="46174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Processing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404864" y="29321365"/>
            <a:ext cx="4849592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700" dirty="0" smtClean="0">
                <a:solidFill>
                  <a:srgbClr val="FF0000"/>
                </a:solidFill>
              </a:rPr>
              <a:t>Recently Added</a:t>
            </a:r>
            <a:endParaRPr lang="en-US" sz="5700" dirty="0">
              <a:solidFill>
                <a:srgbClr val="FF0000"/>
              </a:solidFill>
            </a:endParaRPr>
          </a:p>
        </p:txBody>
      </p:sp>
      <p:pic>
        <p:nvPicPr>
          <p:cNvPr id="3" name="Picture 2" descr="Mega2Process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526" y="9405322"/>
            <a:ext cx="15087929" cy="19358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97876" y="7083347"/>
            <a:ext cx="170899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dirty="0" smtClean="0"/>
              <a:t>*A phenotype/genotype database system - See poster 1830T.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6026</TotalTime>
  <Words>386</Words>
  <Application>Microsoft Macintosh PowerPoint</Application>
  <PresentationFormat>Custom</PresentationFormat>
  <Paragraphs>77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University of Pittsburgh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Mega2 Poster ASHG 2013</dc:title>
  <dc:subject/>
  <dc:creator>Daniel Weeks, Robert Baron, Charles Kollar</dc:creator>
  <cp:keywords/>
  <dc:description/>
  <cp:lastModifiedBy>Charles Kollar</cp:lastModifiedBy>
  <cp:revision>89</cp:revision>
  <cp:lastPrinted>2010-10-26T14:29:59Z</cp:lastPrinted>
  <dcterms:created xsi:type="dcterms:W3CDTF">2010-10-27T21:11:53Z</dcterms:created>
  <dcterms:modified xsi:type="dcterms:W3CDTF">2013-09-20T15:13:58Z</dcterms:modified>
  <cp:category/>
</cp:coreProperties>
</file>