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1089600" cy="40233600"/>
  <p:notesSz cx="6858000" cy="9144000"/>
  <p:defaultTextStyle>
    <a:defPPr>
      <a:defRPr lang="en-US"/>
    </a:defPPr>
    <a:lvl1pPr marL="0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1pPr>
    <a:lvl2pPr marL="2037786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2pPr>
    <a:lvl3pPr marL="4075572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3pPr>
    <a:lvl4pPr marL="6113358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4pPr>
    <a:lvl5pPr marL="8151144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5pPr>
    <a:lvl6pPr marL="10188931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6pPr>
    <a:lvl7pPr marL="12226717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7pPr>
    <a:lvl8pPr marL="14264503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8pPr>
    <a:lvl9pPr marL="16302289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617DBC9-6373-6541-9356-FA954C8E3F4A}">
          <p14:sldIdLst>
            <p14:sldId id="25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EBC6C5"/>
    <a:srgbClr val="FACB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27388" autoAdjust="0"/>
    <p:restoredTop sz="99178" autoAdjust="0"/>
  </p:normalViewPr>
  <p:slideViewPr>
    <p:cSldViewPr snapToGrid="0" snapToObjects="1">
      <p:cViewPr>
        <p:scale>
          <a:sx n="50" d="100"/>
          <a:sy n="50" d="100"/>
        </p:scale>
        <p:origin x="-2472" y="3824"/>
      </p:cViewPr>
      <p:guideLst>
        <p:guide orient="horz" pos="12672"/>
        <p:guide pos="9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D24F52-9551-6140-A3D9-DD6A702DBC07}" type="doc">
      <dgm:prSet loTypeId="urn:microsoft.com/office/officeart/2005/8/layout/bProcess3" loCatId="" qsTypeId="urn:microsoft.com/office/officeart/2005/8/quickstyle/simple2" qsCatId="simple" csTypeId="urn:microsoft.com/office/officeart/2005/8/colors/accent1_2" csCatId="accent1" phldr="1"/>
      <dgm:spPr/>
    </dgm:pt>
    <dgm:pt modelId="{F0B5FA54-9337-014B-B480-B8A3965C7CAB}">
      <dgm:prSet phldrT="[Text]" custT="1"/>
      <dgm:spPr/>
      <dgm:t>
        <a:bodyPr/>
        <a:lstStyle/>
        <a:p>
          <a:r>
            <a:rPr lang="en-US" sz="5000" dirty="0" smtClean="0"/>
            <a:t>Plink Data</a:t>
          </a:r>
          <a:endParaRPr lang="en-US" sz="5000" dirty="0"/>
        </a:p>
      </dgm:t>
    </dgm:pt>
    <dgm:pt modelId="{DA96DAF0-EB9A-264D-B853-13DF6E081209}" type="parTrans" cxnId="{C9571103-2720-064D-84BF-6677D3911366}">
      <dgm:prSet/>
      <dgm:spPr/>
      <dgm:t>
        <a:bodyPr/>
        <a:lstStyle/>
        <a:p>
          <a:endParaRPr lang="en-US" sz="5000"/>
        </a:p>
      </dgm:t>
    </dgm:pt>
    <dgm:pt modelId="{1DF9D49A-1F01-D047-B0F3-6DA5D4C2C20A}" type="sibTrans" cxnId="{C9571103-2720-064D-84BF-6677D3911366}">
      <dgm:prSet custT="1"/>
      <dgm:spPr/>
      <dgm:t>
        <a:bodyPr/>
        <a:lstStyle/>
        <a:p>
          <a:endParaRPr lang="en-US" sz="5000"/>
        </a:p>
      </dgm:t>
    </dgm:pt>
    <dgm:pt modelId="{0DAF6B29-EA02-0247-883C-819140B4DCAC}">
      <dgm:prSet phldrT="[Text]" custT="1"/>
      <dgm:spPr/>
      <dgm:t>
        <a:bodyPr/>
        <a:lstStyle/>
        <a:p>
          <a:r>
            <a:rPr lang="en-US" sz="5000" dirty="0" smtClean="0"/>
            <a:t>Mega2</a:t>
          </a:r>
          <a:endParaRPr lang="en-US" sz="5000" dirty="0"/>
        </a:p>
      </dgm:t>
    </dgm:pt>
    <dgm:pt modelId="{025726AA-37A6-324B-ACD9-FBBF13BE749C}" type="parTrans" cxnId="{A614A408-0BF2-5C4E-BB41-69EB6A017B82}">
      <dgm:prSet/>
      <dgm:spPr/>
      <dgm:t>
        <a:bodyPr/>
        <a:lstStyle/>
        <a:p>
          <a:endParaRPr lang="en-US" sz="5000"/>
        </a:p>
      </dgm:t>
    </dgm:pt>
    <dgm:pt modelId="{87F0D2A9-686F-CF48-8359-81B4CF88D611}" type="sibTrans" cxnId="{A614A408-0BF2-5C4E-BB41-69EB6A017B82}">
      <dgm:prSet custT="1"/>
      <dgm:spPr/>
      <dgm:t>
        <a:bodyPr/>
        <a:lstStyle/>
        <a:p>
          <a:endParaRPr lang="en-US" sz="5000"/>
        </a:p>
      </dgm:t>
    </dgm:pt>
    <dgm:pt modelId="{A3F9FAC9-FC5D-F94D-ACE1-4AC1D9F583BA}">
      <dgm:prSet phldrT="[Text]" custT="1"/>
      <dgm:spPr/>
      <dgm:t>
        <a:bodyPr/>
        <a:lstStyle/>
        <a:p>
          <a:r>
            <a:rPr lang="en-US" sz="5000" dirty="0" smtClean="0">
              <a:solidFill>
                <a:srgbClr val="FFFF00"/>
              </a:solidFill>
            </a:rPr>
            <a:t>SQLite3 Database</a:t>
          </a:r>
          <a:endParaRPr lang="en-US" sz="5000" dirty="0">
            <a:solidFill>
              <a:srgbClr val="FFFF00"/>
            </a:solidFill>
          </a:endParaRPr>
        </a:p>
      </dgm:t>
    </dgm:pt>
    <dgm:pt modelId="{855AEF8D-40C1-EF47-AA92-0210928FA4EE}" type="parTrans" cxnId="{EFFB3C01-743F-4C49-A0CE-218C0E97DADC}">
      <dgm:prSet/>
      <dgm:spPr/>
      <dgm:t>
        <a:bodyPr/>
        <a:lstStyle/>
        <a:p>
          <a:endParaRPr lang="en-US" sz="5000"/>
        </a:p>
      </dgm:t>
    </dgm:pt>
    <dgm:pt modelId="{23F136E6-133E-E247-A871-2B7111BE9BB5}" type="sibTrans" cxnId="{EFFB3C01-743F-4C49-A0CE-218C0E97DADC}">
      <dgm:prSet custT="1"/>
      <dgm:spPr/>
      <dgm:t>
        <a:bodyPr/>
        <a:lstStyle/>
        <a:p>
          <a:endParaRPr lang="en-US" sz="5000"/>
        </a:p>
      </dgm:t>
    </dgm:pt>
    <dgm:pt modelId="{6D75B60E-8C59-2944-91E1-C99AB1983F28}">
      <dgm:prSet phldrT="[Text]" custT="1"/>
      <dgm:spPr/>
      <dgm:t>
        <a:bodyPr/>
        <a:lstStyle/>
        <a:p>
          <a:r>
            <a:rPr lang="en-US" sz="5000" dirty="0" smtClean="0"/>
            <a:t>Mega2R</a:t>
          </a:r>
          <a:endParaRPr lang="en-US" sz="5000" dirty="0"/>
        </a:p>
      </dgm:t>
    </dgm:pt>
    <dgm:pt modelId="{474B7B4D-F18A-234D-A4D1-6213566DDF6E}" type="parTrans" cxnId="{0E190696-2492-5341-85FD-217BAB9BB0F8}">
      <dgm:prSet/>
      <dgm:spPr/>
      <dgm:t>
        <a:bodyPr/>
        <a:lstStyle/>
        <a:p>
          <a:endParaRPr lang="en-US" sz="5000"/>
        </a:p>
      </dgm:t>
    </dgm:pt>
    <dgm:pt modelId="{3A6E66D9-20BD-9A4E-B6C5-D34CC68DF325}" type="sibTrans" cxnId="{0E190696-2492-5341-85FD-217BAB9BB0F8}">
      <dgm:prSet custT="1"/>
      <dgm:spPr/>
      <dgm:t>
        <a:bodyPr/>
        <a:lstStyle/>
        <a:p>
          <a:endParaRPr lang="en-US" sz="5000"/>
        </a:p>
      </dgm:t>
    </dgm:pt>
    <dgm:pt modelId="{239EA3EB-3FFF-6A4D-B692-4F93B7D049C0}">
      <dgm:prSet phldrT="[Text]" custT="1"/>
      <dgm:spPr/>
      <dgm:t>
        <a:bodyPr/>
        <a:lstStyle/>
        <a:p>
          <a:r>
            <a:rPr lang="en-US" sz="5000" dirty="0" err="1" smtClean="0"/>
            <a:t>GenABEL</a:t>
          </a:r>
          <a:endParaRPr lang="en-US" sz="5000" dirty="0"/>
        </a:p>
      </dgm:t>
    </dgm:pt>
    <dgm:pt modelId="{D951D2E8-2AE6-B94F-A9F6-395AA78B345F}" type="parTrans" cxnId="{101CC416-E6F1-444C-BE7C-362778A9BDDA}">
      <dgm:prSet/>
      <dgm:spPr/>
      <dgm:t>
        <a:bodyPr/>
        <a:lstStyle/>
        <a:p>
          <a:endParaRPr lang="en-US" sz="5000"/>
        </a:p>
      </dgm:t>
    </dgm:pt>
    <dgm:pt modelId="{E1B27BDC-89C3-BA4B-8543-EA88E5C31E96}" type="sibTrans" cxnId="{101CC416-E6F1-444C-BE7C-362778A9BDDA}">
      <dgm:prSet/>
      <dgm:spPr/>
      <dgm:t>
        <a:bodyPr/>
        <a:lstStyle/>
        <a:p>
          <a:endParaRPr lang="en-US" sz="5000"/>
        </a:p>
      </dgm:t>
    </dgm:pt>
    <dgm:pt modelId="{FDDBEB18-C273-3647-8B35-861E6692E72F}" type="pres">
      <dgm:prSet presAssocID="{4AD24F52-9551-6140-A3D9-DD6A702DBC07}" presName="Name0" presStyleCnt="0">
        <dgm:presLayoutVars>
          <dgm:dir/>
          <dgm:resizeHandles val="exact"/>
        </dgm:presLayoutVars>
      </dgm:prSet>
      <dgm:spPr/>
    </dgm:pt>
    <dgm:pt modelId="{C8C56471-73DE-F048-B707-3E425366DC23}" type="pres">
      <dgm:prSet presAssocID="{F0B5FA54-9337-014B-B480-B8A3965C7CAB}" presName="node" presStyleLbl="node1" presStyleIdx="0" presStyleCnt="5">
        <dgm:presLayoutVars>
          <dgm:bulletEnabled val="1"/>
        </dgm:presLayoutVars>
      </dgm:prSet>
      <dgm:spPr>
        <a:prstGeom prst="flowChartMultidocument">
          <a:avLst/>
        </a:prstGeom>
      </dgm:spPr>
      <dgm:t>
        <a:bodyPr/>
        <a:lstStyle/>
        <a:p>
          <a:endParaRPr lang="en-US"/>
        </a:p>
      </dgm:t>
    </dgm:pt>
    <dgm:pt modelId="{1E5F2F3B-4AC7-B146-B890-A46577540397}" type="pres">
      <dgm:prSet presAssocID="{1DF9D49A-1F01-D047-B0F3-6DA5D4C2C20A}" presName="sibTrans" presStyleLbl="sibTrans1D1" presStyleIdx="0" presStyleCnt="4"/>
      <dgm:spPr/>
      <dgm:t>
        <a:bodyPr/>
        <a:lstStyle/>
        <a:p>
          <a:endParaRPr lang="en-US"/>
        </a:p>
      </dgm:t>
    </dgm:pt>
    <dgm:pt modelId="{798099D8-BA14-054C-9CFF-44E82EF15BD8}" type="pres">
      <dgm:prSet presAssocID="{1DF9D49A-1F01-D047-B0F3-6DA5D4C2C20A}" presName="connectorText" presStyleLbl="sibTrans1D1" presStyleIdx="0" presStyleCnt="4"/>
      <dgm:spPr/>
      <dgm:t>
        <a:bodyPr/>
        <a:lstStyle/>
        <a:p>
          <a:endParaRPr lang="en-US"/>
        </a:p>
      </dgm:t>
    </dgm:pt>
    <dgm:pt modelId="{90C17530-C0B9-AE41-AB35-707FCF1F3D6F}" type="pres">
      <dgm:prSet presAssocID="{0DAF6B29-EA02-0247-883C-819140B4DCAC}" presName="node" presStyleLbl="node1" presStyleIdx="1" presStyleCnt="5">
        <dgm:presLayoutVars>
          <dgm:bulletEnabled val="1"/>
        </dgm:presLayoutVars>
      </dgm:prSet>
      <dgm:spPr>
        <a:prstGeom prst="flowChartPredefinedProcess">
          <a:avLst/>
        </a:prstGeom>
      </dgm:spPr>
      <dgm:t>
        <a:bodyPr/>
        <a:lstStyle/>
        <a:p>
          <a:endParaRPr lang="en-US"/>
        </a:p>
      </dgm:t>
    </dgm:pt>
    <dgm:pt modelId="{4AB8A7FD-88A4-6B49-ADA0-A080FE2B91D0}" type="pres">
      <dgm:prSet presAssocID="{87F0D2A9-686F-CF48-8359-81B4CF88D611}" presName="sibTrans" presStyleLbl="sibTrans1D1" presStyleIdx="1" presStyleCnt="4"/>
      <dgm:spPr/>
      <dgm:t>
        <a:bodyPr/>
        <a:lstStyle/>
        <a:p>
          <a:endParaRPr lang="en-US"/>
        </a:p>
      </dgm:t>
    </dgm:pt>
    <dgm:pt modelId="{848E0B3B-66CA-9D41-A751-CEC5A36D6472}" type="pres">
      <dgm:prSet presAssocID="{87F0D2A9-686F-CF48-8359-81B4CF88D611}" presName="connectorText" presStyleLbl="sibTrans1D1" presStyleIdx="1" presStyleCnt="4"/>
      <dgm:spPr/>
      <dgm:t>
        <a:bodyPr/>
        <a:lstStyle/>
        <a:p>
          <a:endParaRPr lang="en-US"/>
        </a:p>
      </dgm:t>
    </dgm:pt>
    <dgm:pt modelId="{D0DD2E67-431A-5340-802F-3C027CF0B76B}" type="pres">
      <dgm:prSet presAssocID="{A3F9FAC9-FC5D-F94D-ACE1-4AC1D9F583BA}" presName="node" presStyleLbl="node1" presStyleIdx="2" presStyleCnt="5">
        <dgm:presLayoutVars>
          <dgm:bulletEnabled val="1"/>
        </dgm:presLayoutVars>
      </dgm:prSet>
      <dgm:spPr>
        <a:prstGeom prst="can">
          <a:avLst/>
        </a:prstGeom>
      </dgm:spPr>
      <dgm:t>
        <a:bodyPr/>
        <a:lstStyle/>
        <a:p>
          <a:endParaRPr lang="en-US"/>
        </a:p>
      </dgm:t>
    </dgm:pt>
    <dgm:pt modelId="{FE922FB9-21AA-514B-85DA-100C713ADFF4}" type="pres">
      <dgm:prSet presAssocID="{23F136E6-133E-E247-A871-2B7111BE9BB5}" presName="sibTrans" presStyleLbl="sibTrans1D1" presStyleIdx="2" presStyleCnt="4"/>
      <dgm:spPr/>
      <dgm:t>
        <a:bodyPr/>
        <a:lstStyle/>
        <a:p>
          <a:endParaRPr lang="en-US"/>
        </a:p>
      </dgm:t>
    </dgm:pt>
    <dgm:pt modelId="{1B63C842-B2CA-3340-8BEC-BF802F6B5DE4}" type="pres">
      <dgm:prSet presAssocID="{23F136E6-133E-E247-A871-2B7111BE9BB5}" presName="connectorText" presStyleLbl="sibTrans1D1" presStyleIdx="2" presStyleCnt="4"/>
      <dgm:spPr/>
      <dgm:t>
        <a:bodyPr/>
        <a:lstStyle/>
        <a:p>
          <a:endParaRPr lang="en-US"/>
        </a:p>
      </dgm:t>
    </dgm:pt>
    <dgm:pt modelId="{52152AA8-316C-604D-9019-721CD06FF857}" type="pres">
      <dgm:prSet presAssocID="{6D75B60E-8C59-2944-91E1-C99AB1983F28}" presName="node" presStyleLbl="node1" presStyleIdx="3" presStyleCnt="5" custLinFactNeighborX="-266" custLinFactNeighborY="4389">
        <dgm:presLayoutVars>
          <dgm:bulletEnabled val="1"/>
        </dgm:presLayoutVars>
      </dgm:prSet>
      <dgm:spPr>
        <a:prstGeom prst="flowChartInternalStorage">
          <a:avLst/>
        </a:prstGeom>
      </dgm:spPr>
      <dgm:t>
        <a:bodyPr/>
        <a:lstStyle/>
        <a:p>
          <a:endParaRPr lang="en-US"/>
        </a:p>
      </dgm:t>
    </dgm:pt>
    <dgm:pt modelId="{84A56D22-D135-454C-81D1-2A6578AE60AC}" type="pres">
      <dgm:prSet presAssocID="{3A6E66D9-20BD-9A4E-B6C5-D34CC68DF325}" presName="sibTrans" presStyleLbl="sibTrans1D1" presStyleIdx="3" presStyleCnt="4"/>
      <dgm:spPr/>
      <dgm:t>
        <a:bodyPr/>
        <a:lstStyle/>
        <a:p>
          <a:endParaRPr lang="en-US"/>
        </a:p>
      </dgm:t>
    </dgm:pt>
    <dgm:pt modelId="{469EBD04-9162-5A45-BFE6-11914ED41485}" type="pres">
      <dgm:prSet presAssocID="{3A6E66D9-20BD-9A4E-B6C5-D34CC68DF325}" presName="connectorText" presStyleLbl="sibTrans1D1" presStyleIdx="3" presStyleCnt="4"/>
      <dgm:spPr/>
      <dgm:t>
        <a:bodyPr/>
        <a:lstStyle/>
        <a:p>
          <a:endParaRPr lang="en-US"/>
        </a:p>
      </dgm:t>
    </dgm:pt>
    <dgm:pt modelId="{F5CB0EC5-FE34-D845-B2E3-7826F43EFBCF}" type="pres">
      <dgm:prSet presAssocID="{239EA3EB-3FFF-6A4D-B692-4F93B7D049C0}" presName="node" presStyleLbl="node1" presStyleIdx="4" presStyleCnt="5" custLinFactX="23266" custLinFactNeighborX="100000" custLinFactNeighborY="4389">
        <dgm:presLayoutVars>
          <dgm:bulletEnabled val="1"/>
        </dgm:presLayoutVars>
      </dgm:prSet>
      <dgm:spPr>
        <a:prstGeom prst="flowChartInternalStorage">
          <a:avLst/>
        </a:prstGeom>
      </dgm:spPr>
      <dgm:t>
        <a:bodyPr/>
        <a:lstStyle/>
        <a:p>
          <a:endParaRPr lang="en-US"/>
        </a:p>
      </dgm:t>
    </dgm:pt>
  </dgm:ptLst>
  <dgm:cxnLst>
    <dgm:cxn modelId="{E25538A1-73A7-894E-BF87-AB21339268E0}" type="presOf" srcId="{1DF9D49A-1F01-D047-B0F3-6DA5D4C2C20A}" destId="{1E5F2F3B-4AC7-B146-B890-A46577540397}" srcOrd="0" destOrd="0" presId="urn:microsoft.com/office/officeart/2005/8/layout/bProcess3"/>
    <dgm:cxn modelId="{305F12D4-1D61-5340-8832-0E80A3765F17}" type="presOf" srcId="{87F0D2A9-686F-CF48-8359-81B4CF88D611}" destId="{4AB8A7FD-88A4-6B49-ADA0-A080FE2B91D0}" srcOrd="0" destOrd="0" presId="urn:microsoft.com/office/officeart/2005/8/layout/bProcess3"/>
    <dgm:cxn modelId="{101CC416-E6F1-444C-BE7C-362778A9BDDA}" srcId="{4AD24F52-9551-6140-A3D9-DD6A702DBC07}" destId="{239EA3EB-3FFF-6A4D-B692-4F93B7D049C0}" srcOrd="4" destOrd="0" parTransId="{D951D2E8-2AE6-B94F-A9F6-395AA78B345F}" sibTransId="{E1B27BDC-89C3-BA4B-8543-EA88E5C31E96}"/>
    <dgm:cxn modelId="{A03EADB2-D7DA-A543-89E7-531119D59995}" type="presOf" srcId="{3A6E66D9-20BD-9A4E-B6C5-D34CC68DF325}" destId="{469EBD04-9162-5A45-BFE6-11914ED41485}" srcOrd="1" destOrd="0" presId="urn:microsoft.com/office/officeart/2005/8/layout/bProcess3"/>
    <dgm:cxn modelId="{6A2910F7-B633-1E4D-B06F-6BE068F1E62B}" type="presOf" srcId="{1DF9D49A-1F01-D047-B0F3-6DA5D4C2C20A}" destId="{798099D8-BA14-054C-9CFF-44E82EF15BD8}" srcOrd="1" destOrd="0" presId="urn:microsoft.com/office/officeart/2005/8/layout/bProcess3"/>
    <dgm:cxn modelId="{3B7A48DB-F991-9F4C-9B89-D0B6FAD9F1A3}" type="presOf" srcId="{6D75B60E-8C59-2944-91E1-C99AB1983F28}" destId="{52152AA8-316C-604D-9019-721CD06FF857}" srcOrd="0" destOrd="0" presId="urn:microsoft.com/office/officeart/2005/8/layout/bProcess3"/>
    <dgm:cxn modelId="{EFFB3C01-743F-4C49-A0CE-218C0E97DADC}" srcId="{4AD24F52-9551-6140-A3D9-DD6A702DBC07}" destId="{A3F9FAC9-FC5D-F94D-ACE1-4AC1D9F583BA}" srcOrd="2" destOrd="0" parTransId="{855AEF8D-40C1-EF47-AA92-0210928FA4EE}" sibTransId="{23F136E6-133E-E247-A871-2B7111BE9BB5}"/>
    <dgm:cxn modelId="{C7B9C12C-5E88-5944-BD25-ECD1FC1CDC54}" type="presOf" srcId="{23F136E6-133E-E247-A871-2B7111BE9BB5}" destId="{FE922FB9-21AA-514B-85DA-100C713ADFF4}" srcOrd="0" destOrd="0" presId="urn:microsoft.com/office/officeart/2005/8/layout/bProcess3"/>
    <dgm:cxn modelId="{5CC65988-7D25-B84C-B992-AA0FCD89DF01}" type="presOf" srcId="{4AD24F52-9551-6140-A3D9-DD6A702DBC07}" destId="{FDDBEB18-C273-3647-8B35-861E6692E72F}" srcOrd="0" destOrd="0" presId="urn:microsoft.com/office/officeart/2005/8/layout/bProcess3"/>
    <dgm:cxn modelId="{5283D568-5F87-E842-A392-EAB1C8129C06}" type="presOf" srcId="{0DAF6B29-EA02-0247-883C-819140B4DCAC}" destId="{90C17530-C0B9-AE41-AB35-707FCF1F3D6F}" srcOrd="0" destOrd="0" presId="urn:microsoft.com/office/officeart/2005/8/layout/bProcess3"/>
    <dgm:cxn modelId="{9E5AD0B3-58C7-B340-A0A8-C6994D41E804}" type="presOf" srcId="{F0B5FA54-9337-014B-B480-B8A3965C7CAB}" destId="{C8C56471-73DE-F048-B707-3E425366DC23}" srcOrd="0" destOrd="0" presId="urn:microsoft.com/office/officeart/2005/8/layout/bProcess3"/>
    <dgm:cxn modelId="{A614A408-0BF2-5C4E-BB41-69EB6A017B82}" srcId="{4AD24F52-9551-6140-A3D9-DD6A702DBC07}" destId="{0DAF6B29-EA02-0247-883C-819140B4DCAC}" srcOrd="1" destOrd="0" parTransId="{025726AA-37A6-324B-ACD9-FBBF13BE749C}" sibTransId="{87F0D2A9-686F-CF48-8359-81B4CF88D611}"/>
    <dgm:cxn modelId="{0E763522-BA8E-CA4F-BB0B-800B36C5DFBE}" type="presOf" srcId="{A3F9FAC9-FC5D-F94D-ACE1-4AC1D9F583BA}" destId="{D0DD2E67-431A-5340-802F-3C027CF0B76B}" srcOrd="0" destOrd="0" presId="urn:microsoft.com/office/officeart/2005/8/layout/bProcess3"/>
    <dgm:cxn modelId="{B609AA9D-52C6-BE49-845B-31E3EDF529FA}" type="presOf" srcId="{3A6E66D9-20BD-9A4E-B6C5-D34CC68DF325}" destId="{84A56D22-D135-454C-81D1-2A6578AE60AC}" srcOrd="0" destOrd="0" presId="urn:microsoft.com/office/officeart/2005/8/layout/bProcess3"/>
    <dgm:cxn modelId="{55255F46-F513-CF47-B176-B149C89FB270}" type="presOf" srcId="{23F136E6-133E-E247-A871-2B7111BE9BB5}" destId="{1B63C842-B2CA-3340-8BEC-BF802F6B5DE4}" srcOrd="1" destOrd="0" presId="urn:microsoft.com/office/officeart/2005/8/layout/bProcess3"/>
    <dgm:cxn modelId="{F7C73D32-F624-4846-BD6B-4846BC1994C2}" type="presOf" srcId="{239EA3EB-3FFF-6A4D-B692-4F93B7D049C0}" destId="{F5CB0EC5-FE34-D845-B2E3-7826F43EFBCF}" srcOrd="0" destOrd="0" presId="urn:microsoft.com/office/officeart/2005/8/layout/bProcess3"/>
    <dgm:cxn modelId="{DB9B7E2F-EB35-2F42-BAE9-7E54DF7ACFFC}" type="presOf" srcId="{87F0D2A9-686F-CF48-8359-81B4CF88D611}" destId="{848E0B3B-66CA-9D41-A751-CEC5A36D6472}" srcOrd="1" destOrd="0" presId="urn:microsoft.com/office/officeart/2005/8/layout/bProcess3"/>
    <dgm:cxn modelId="{0E190696-2492-5341-85FD-217BAB9BB0F8}" srcId="{4AD24F52-9551-6140-A3D9-DD6A702DBC07}" destId="{6D75B60E-8C59-2944-91E1-C99AB1983F28}" srcOrd="3" destOrd="0" parTransId="{474B7B4D-F18A-234D-A4D1-6213566DDF6E}" sibTransId="{3A6E66D9-20BD-9A4E-B6C5-D34CC68DF325}"/>
    <dgm:cxn modelId="{C9571103-2720-064D-84BF-6677D3911366}" srcId="{4AD24F52-9551-6140-A3D9-DD6A702DBC07}" destId="{F0B5FA54-9337-014B-B480-B8A3965C7CAB}" srcOrd="0" destOrd="0" parTransId="{DA96DAF0-EB9A-264D-B853-13DF6E081209}" sibTransId="{1DF9D49A-1F01-D047-B0F3-6DA5D4C2C20A}"/>
    <dgm:cxn modelId="{085AC4E6-E88D-A443-A30B-1591E606F451}" type="presParOf" srcId="{FDDBEB18-C273-3647-8B35-861E6692E72F}" destId="{C8C56471-73DE-F048-B707-3E425366DC23}" srcOrd="0" destOrd="0" presId="urn:microsoft.com/office/officeart/2005/8/layout/bProcess3"/>
    <dgm:cxn modelId="{9789197D-89B6-D44F-8B08-280321E67015}" type="presParOf" srcId="{FDDBEB18-C273-3647-8B35-861E6692E72F}" destId="{1E5F2F3B-4AC7-B146-B890-A46577540397}" srcOrd="1" destOrd="0" presId="urn:microsoft.com/office/officeart/2005/8/layout/bProcess3"/>
    <dgm:cxn modelId="{163FBD66-5968-DA4A-BDA5-A069803405D7}" type="presParOf" srcId="{1E5F2F3B-4AC7-B146-B890-A46577540397}" destId="{798099D8-BA14-054C-9CFF-44E82EF15BD8}" srcOrd="0" destOrd="0" presId="urn:microsoft.com/office/officeart/2005/8/layout/bProcess3"/>
    <dgm:cxn modelId="{BC75EB15-7625-EB46-8DC8-D61EDC5382C6}" type="presParOf" srcId="{FDDBEB18-C273-3647-8B35-861E6692E72F}" destId="{90C17530-C0B9-AE41-AB35-707FCF1F3D6F}" srcOrd="2" destOrd="0" presId="urn:microsoft.com/office/officeart/2005/8/layout/bProcess3"/>
    <dgm:cxn modelId="{9B419D7B-2C41-2844-A6D7-5BBDEC25D177}" type="presParOf" srcId="{FDDBEB18-C273-3647-8B35-861E6692E72F}" destId="{4AB8A7FD-88A4-6B49-ADA0-A080FE2B91D0}" srcOrd="3" destOrd="0" presId="urn:microsoft.com/office/officeart/2005/8/layout/bProcess3"/>
    <dgm:cxn modelId="{EFB95834-3ACD-6E4B-BCDD-CBBAA5C509C8}" type="presParOf" srcId="{4AB8A7FD-88A4-6B49-ADA0-A080FE2B91D0}" destId="{848E0B3B-66CA-9D41-A751-CEC5A36D6472}" srcOrd="0" destOrd="0" presId="urn:microsoft.com/office/officeart/2005/8/layout/bProcess3"/>
    <dgm:cxn modelId="{259EFCC1-F8CB-5D45-AAB4-DDE56EFB6130}" type="presParOf" srcId="{FDDBEB18-C273-3647-8B35-861E6692E72F}" destId="{D0DD2E67-431A-5340-802F-3C027CF0B76B}" srcOrd="4" destOrd="0" presId="urn:microsoft.com/office/officeart/2005/8/layout/bProcess3"/>
    <dgm:cxn modelId="{402ED484-9472-8E4F-9ADA-4AFCA753F6C7}" type="presParOf" srcId="{FDDBEB18-C273-3647-8B35-861E6692E72F}" destId="{FE922FB9-21AA-514B-85DA-100C713ADFF4}" srcOrd="5" destOrd="0" presId="urn:microsoft.com/office/officeart/2005/8/layout/bProcess3"/>
    <dgm:cxn modelId="{AD997344-840E-A34D-81A0-57C7CC2E452A}" type="presParOf" srcId="{FE922FB9-21AA-514B-85DA-100C713ADFF4}" destId="{1B63C842-B2CA-3340-8BEC-BF802F6B5DE4}" srcOrd="0" destOrd="0" presId="urn:microsoft.com/office/officeart/2005/8/layout/bProcess3"/>
    <dgm:cxn modelId="{183C9780-410D-7243-862F-2E44D9291E7B}" type="presParOf" srcId="{FDDBEB18-C273-3647-8B35-861E6692E72F}" destId="{52152AA8-316C-604D-9019-721CD06FF857}" srcOrd="6" destOrd="0" presId="urn:microsoft.com/office/officeart/2005/8/layout/bProcess3"/>
    <dgm:cxn modelId="{CF6B1184-82E7-4648-85D8-DC378DCD2F22}" type="presParOf" srcId="{FDDBEB18-C273-3647-8B35-861E6692E72F}" destId="{84A56D22-D135-454C-81D1-2A6578AE60AC}" srcOrd="7" destOrd="0" presId="urn:microsoft.com/office/officeart/2005/8/layout/bProcess3"/>
    <dgm:cxn modelId="{B4463E4D-3B2E-624B-BFA6-250CA1DFC2D0}" type="presParOf" srcId="{84A56D22-D135-454C-81D1-2A6578AE60AC}" destId="{469EBD04-9162-5A45-BFE6-11914ED41485}" srcOrd="0" destOrd="0" presId="urn:microsoft.com/office/officeart/2005/8/layout/bProcess3"/>
    <dgm:cxn modelId="{E6CAC241-E679-CA4F-B78D-07EDD4A6B792}" type="presParOf" srcId="{FDDBEB18-C273-3647-8B35-861E6692E72F}" destId="{F5CB0EC5-FE34-D845-B2E3-7826F43EFBCF}" srcOrd="8" destOrd="0" presId="urn:microsoft.com/office/officeart/2005/8/layout/bProcess3"/>
  </dgm:cxnLst>
  <dgm:bg/>
  <dgm:whole>
    <a:ln w="38100" cmpd="sng"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CE9D80-5F8D-8A47-AD11-25990CF48EE7}" type="doc">
      <dgm:prSet loTypeId="urn:microsoft.com/office/officeart/2005/8/layout/cycle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0A212C-A33F-6E41-B202-D39315170082}">
      <dgm:prSet phldrT="[Text]"/>
      <dgm:spPr/>
      <dgm:t>
        <a:bodyPr/>
        <a:lstStyle/>
        <a:p>
          <a:r>
            <a:rPr lang="en-US" dirty="0" err="1" smtClean="0"/>
            <a:t>pedgene</a:t>
          </a:r>
          <a:r>
            <a:rPr lang="en-US" dirty="0" smtClean="0"/>
            <a:t> (or other R package)</a:t>
          </a:r>
          <a:endParaRPr lang="en-US" dirty="0"/>
        </a:p>
      </dgm:t>
    </dgm:pt>
    <dgm:pt modelId="{35699270-49D7-B742-B00A-F0CDE109B9D1}" type="parTrans" cxnId="{52F78E5F-EEB7-664B-9D20-1BE91B87F3F7}">
      <dgm:prSet/>
      <dgm:spPr/>
      <dgm:t>
        <a:bodyPr/>
        <a:lstStyle/>
        <a:p>
          <a:endParaRPr lang="en-US"/>
        </a:p>
      </dgm:t>
    </dgm:pt>
    <dgm:pt modelId="{1DBE605B-0325-AD40-A469-9AD20D6540AF}" type="sibTrans" cxnId="{52F78E5F-EEB7-664B-9D20-1BE91B87F3F7}">
      <dgm:prSet/>
      <dgm:spPr/>
      <dgm:t>
        <a:bodyPr/>
        <a:lstStyle/>
        <a:p>
          <a:endParaRPr lang="en-US"/>
        </a:p>
      </dgm:t>
    </dgm:pt>
    <dgm:pt modelId="{9C8B8215-D13C-CA40-889A-C34613354D02}">
      <dgm:prSet phldrT="[Text]"/>
      <dgm:spPr/>
      <dgm:t>
        <a:bodyPr/>
        <a:lstStyle/>
        <a:p>
          <a:r>
            <a:rPr lang="en-US" dirty="0" smtClean="0">
              <a:solidFill>
                <a:srgbClr val="FFFF00"/>
              </a:solidFill>
            </a:rPr>
            <a:t>Loop</a:t>
          </a:r>
          <a:r>
            <a:rPr lang="en-US" dirty="0" smtClean="0"/>
            <a:t> over N genes</a:t>
          </a:r>
          <a:endParaRPr lang="en-US" dirty="0"/>
        </a:p>
      </dgm:t>
    </dgm:pt>
    <dgm:pt modelId="{1029BF74-7CA6-B147-933B-5F0A513CA721}" type="parTrans" cxnId="{96BA6E64-5912-2F48-B292-3C958F411006}">
      <dgm:prSet/>
      <dgm:spPr/>
      <dgm:t>
        <a:bodyPr/>
        <a:lstStyle/>
        <a:p>
          <a:endParaRPr lang="en-US"/>
        </a:p>
      </dgm:t>
    </dgm:pt>
    <dgm:pt modelId="{65362549-F521-B345-BFF0-A14C669386B1}" type="sibTrans" cxnId="{96BA6E64-5912-2F48-B292-3C958F411006}">
      <dgm:prSet/>
      <dgm:spPr/>
      <dgm:t>
        <a:bodyPr/>
        <a:lstStyle/>
        <a:p>
          <a:endParaRPr lang="en-US"/>
        </a:p>
      </dgm:t>
    </dgm:pt>
    <dgm:pt modelId="{986F9BCB-EB92-714F-BCE2-5E5CA61830EA}">
      <dgm:prSet phldrT="[Text]"/>
      <dgm:spPr/>
      <dgm:t>
        <a:bodyPr/>
        <a:lstStyle/>
        <a:p>
          <a:r>
            <a:rPr lang="en-US" dirty="0" smtClean="0">
              <a:solidFill>
                <a:srgbClr val="FFFF00"/>
              </a:solidFill>
            </a:rPr>
            <a:t>Decompress</a:t>
          </a:r>
          <a:r>
            <a:rPr lang="en-US" dirty="0" smtClean="0"/>
            <a:t> Range n</a:t>
          </a:r>
          <a:endParaRPr lang="en-US" dirty="0"/>
        </a:p>
      </dgm:t>
    </dgm:pt>
    <dgm:pt modelId="{FCE15DAC-7C21-3146-B33B-565090AD3161}" type="parTrans" cxnId="{93FD232A-F3F9-F942-886D-72B700B5FDE7}">
      <dgm:prSet/>
      <dgm:spPr/>
      <dgm:t>
        <a:bodyPr/>
        <a:lstStyle/>
        <a:p>
          <a:endParaRPr lang="en-US"/>
        </a:p>
      </dgm:t>
    </dgm:pt>
    <dgm:pt modelId="{21843FB2-6972-D241-89AF-D3C7F8A34CEB}" type="sibTrans" cxnId="{93FD232A-F3F9-F942-886D-72B700B5FDE7}">
      <dgm:prSet/>
      <dgm:spPr/>
      <dgm:t>
        <a:bodyPr/>
        <a:lstStyle/>
        <a:p>
          <a:endParaRPr lang="en-US"/>
        </a:p>
      </dgm:t>
    </dgm:pt>
    <dgm:pt modelId="{9C679208-F99A-0E49-89F6-525135327002}">
      <dgm:prSet phldrT="[Text]"/>
      <dgm:spPr/>
      <dgm:t>
        <a:bodyPr/>
        <a:lstStyle/>
        <a:p>
          <a:r>
            <a:rPr lang="en-US" dirty="0" smtClean="0"/>
            <a:t>Result n</a:t>
          </a:r>
          <a:endParaRPr lang="en-US" dirty="0"/>
        </a:p>
      </dgm:t>
    </dgm:pt>
    <dgm:pt modelId="{123C8F17-1A45-0D42-8703-50850CC2332E}" type="parTrans" cxnId="{B1F44363-6215-7B41-B5D6-895EBD370099}">
      <dgm:prSet/>
      <dgm:spPr/>
      <dgm:t>
        <a:bodyPr/>
        <a:lstStyle/>
        <a:p>
          <a:endParaRPr lang="en-US"/>
        </a:p>
      </dgm:t>
    </dgm:pt>
    <dgm:pt modelId="{52EEFFE2-98D6-4644-B70C-8372D98C36C4}" type="sibTrans" cxnId="{B1F44363-6215-7B41-B5D6-895EBD370099}">
      <dgm:prSet/>
      <dgm:spPr/>
      <dgm:t>
        <a:bodyPr/>
        <a:lstStyle/>
        <a:p>
          <a:endParaRPr lang="en-US"/>
        </a:p>
      </dgm:t>
    </dgm:pt>
    <dgm:pt modelId="{588784B2-E0AE-FD4D-A405-F11267A4FBA6}" type="pres">
      <dgm:prSet presAssocID="{64CE9D80-5F8D-8A47-AD11-25990CF48EE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EDDA4D7-DA8A-AF42-BB75-FF82B2E7F98C}" type="pres">
      <dgm:prSet presAssocID="{64CE9D80-5F8D-8A47-AD11-25990CF48EE7}" presName="cycle" presStyleCnt="0"/>
      <dgm:spPr/>
    </dgm:pt>
    <dgm:pt modelId="{DE66BBE1-A1F4-CC47-958B-4602E0F65908}" type="pres">
      <dgm:prSet presAssocID="{9C8B8215-D13C-CA40-889A-C34613354D02}" presName="nodeFirs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BFB1CB-C90F-3041-80EA-6A8C1936CE7F}" type="pres">
      <dgm:prSet presAssocID="{65362549-F521-B345-BFF0-A14C669386B1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FA6C09FB-ED46-5541-B92C-5F6FF7938998}" type="pres">
      <dgm:prSet presAssocID="{986F9BCB-EB92-714F-BCE2-5E5CA61830EA}" presName="nodeFollowingNodes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FA243D-600C-B247-B64C-D3ECA208B9A7}" type="pres">
      <dgm:prSet presAssocID="{DC0A212C-A33F-6E41-B202-D39315170082}" presName="nodeFollowingNodes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6FBBD0-4935-024B-9949-5C9DAE09229E}" type="pres">
      <dgm:prSet presAssocID="{9C679208-F99A-0E49-89F6-525135327002}" presName="nodeFollowingNodes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CAA7CF3-5195-E246-B9CB-D70A6C985979}" type="presOf" srcId="{DC0A212C-A33F-6E41-B202-D39315170082}" destId="{AAFA243D-600C-B247-B64C-D3ECA208B9A7}" srcOrd="0" destOrd="0" presId="urn:microsoft.com/office/officeart/2005/8/layout/cycle3"/>
    <dgm:cxn modelId="{52F78E5F-EEB7-664B-9D20-1BE91B87F3F7}" srcId="{64CE9D80-5F8D-8A47-AD11-25990CF48EE7}" destId="{DC0A212C-A33F-6E41-B202-D39315170082}" srcOrd="2" destOrd="0" parTransId="{35699270-49D7-B742-B00A-F0CDE109B9D1}" sibTransId="{1DBE605B-0325-AD40-A469-9AD20D6540AF}"/>
    <dgm:cxn modelId="{96BA6E64-5912-2F48-B292-3C958F411006}" srcId="{64CE9D80-5F8D-8A47-AD11-25990CF48EE7}" destId="{9C8B8215-D13C-CA40-889A-C34613354D02}" srcOrd="0" destOrd="0" parTransId="{1029BF74-7CA6-B147-933B-5F0A513CA721}" sibTransId="{65362549-F521-B345-BFF0-A14C669386B1}"/>
    <dgm:cxn modelId="{B1F44363-6215-7B41-B5D6-895EBD370099}" srcId="{64CE9D80-5F8D-8A47-AD11-25990CF48EE7}" destId="{9C679208-F99A-0E49-89F6-525135327002}" srcOrd="3" destOrd="0" parTransId="{123C8F17-1A45-0D42-8703-50850CC2332E}" sibTransId="{52EEFFE2-98D6-4644-B70C-8372D98C36C4}"/>
    <dgm:cxn modelId="{53ABEB96-EAA9-C543-BA38-3DFCFAAD6FC6}" type="presOf" srcId="{986F9BCB-EB92-714F-BCE2-5E5CA61830EA}" destId="{FA6C09FB-ED46-5541-B92C-5F6FF7938998}" srcOrd="0" destOrd="0" presId="urn:microsoft.com/office/officeart/2005/8/layout/cycle3"/>
    <dgm:cxn modelId="{49E06D1A-1662-8048-A890-84B8853542A4}" type="presOf" srcId="{9C679208-F99A-0E49-89F6-525135327002}" destId="{016FBBD0-4935-024B-9949-5C9DAE09229E}" srcOrd="0" destOrd="0" presId="urn:microsoft.com/office/officeart/2005/8/layout/cycle3"/>
    <dgm:cxn modelId="{9E61AA45-07FF-D644-A60C-67CAC443AE80}" type="presOf" srcId="{64CE9D80-5F8D-8A47-AD11-25990CF48EE7}" destId="{588784B2-E0AE-FD4D-A405-F11267A4FBA6}" srcOrd="0" destOrd="0" presId="urn:microsoft.com/office/officeart/2005/8/layout/cycle3"/>
    <dgm:cxn modelId="{4BB38FF6-0C54-BF4B-ABC9-59D526CA8A01}" type="presOf" srcId="{65362549-F521-B345-BFF0-A14C669386B1}" destId="{50BFB1CB-C90F-3041-80EA-6A8C1936CE7F}" srcOrd="0" destOrd="0" presId="urn:microsoft.com/office/officeart/2005/8/layout/cycle3"/>
    <dgm:cxn modelId="{93FD232A-F3F9-F942-886D-72B700B5FDE7}" srcId="{64CE9D80-5F8D-8A47-AD11-25990CF48EE7}" destId="{986F9BCB-EB92-714F-BCE2-5E5CA61830EA}" srcOrd="1" destOrd="0" parTransId="{FCE15DAC-7C21-3146-B33B-565090AD3161}" sibTransId="{21843FB2-6972-D241-89AF-D3C7F8A34CEB}"/>
    <dgm:cxn modelId="{17BC82D6-32BA-2D4B-B103-567FF74CBF26}" type="presOf" srcId="{9C8B8215-D13C-CA40-889A-C34613354D02}" destId="{DE66BBE1-A1F4-CC47-958B-4602E0F65908}" srcOrd="0" destOrd="0" presId="urn:microsoft.com/office/officeart/2005/8/layout/cycle3"/>
    <dgm:cxn modelId="{445B9847-458D-9347-8792-1CC3548D8668}" type="presParOf" srcId="{588784B2-E0AE-FD4D-A405-F11267A4FBA6}" destId="{5EDDA4D7-DA8A-AF42-BB75-FF82B2E7F98C}" srcOrd="0" destOrd="0" presId="urn:microsoft.com/office/officeart/2005/8/layout/cycle3"/>
    <dgm:cxn modelId="{43D291BB-3CA0-A149-B6E2-3ADAF67C7359}" type="presParOf" srcId="{5EDDA4D7-DA8A-AF42-BB75-FF82B2E7F98C}" destId="{DE66BBE1-A1F4-CC47-958B-4602E0F65908}" srcOrd="0" destOrd="0" presId="urn:microsoft.com/office/officeart/2005/8/layout/cycle3"/>
    <dgm:cxn modelId="{1477FAD8-B11B-6240-AC7C-39171A408539}" type="presParOf" srcId="{5EDDA4D7-DA8A-AF42-BB75-FF82B2E7F98C}" destId="{50BFB1CB-C90F-3041-80EA-6A8C1936CE7F}" srcOrd="1" destOrd="0" presId="urn:microsoft.com/office/officeart/2005/8/layout/cycle3"/>
    <dgm:cxn modelId="{EB00066C-B7DB-D543-BCB6-9F823348F0A4}" type="presParOf" srcId="{5EDDA4D7-DA8A-AF42-BB75-FF82B2E7F98C}" destId="{FA6C09FB-ED46-5541-B92C-5F6FF7938998}" srcOrd="2" destOrd="0" presId="urn:microsoft.com/office/officeart/2005/8/layout/cycle3"/>
    <dgm:cxn modelId="{FB014AA6-B60A-6D4F-8684-E2A67884B11C}" type="presParOf" srcId="{5EDDA4D7-DA8A-AF42-BB75-FF82B2E7F98C}" destId="{AAFA243D-600C-B247-B64C-D3ECA208B9A7}" srcOrd="3" destOrd="0" presId="urn:microsoft.com/office/officeart/2005/8/layout/cycle3"/>
    <dgm:cxn modelId="{F61529F8-46BF-104D-BC25-88E0F06D5666}" type="presParOf" srcId="{5EDDA4D7-DA8A-AF42-BB75-FF82B2E7F98C}" destId="{016FBBD0-4935-024B-9949-5C9DAE09229E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F2885C1-C880-E341-A958-34A31D577490}" type="doc">
      <dgm:prSet loTypeId="urn:microsoft.com/office/officeart/2005/8/layout/process2" loCatId="" qsTypeId="urn:microsoft.com/office/officeart/2005/8/quickstyle/simple2" qsCatId="simple" csTypeId="urn:microsoft.com/office/officeart/2005/8/colors/accent1_2" csCatId="accent1" phldr="1"/>
      <dgm:spPr/>
    </dgm:pt>
    <dgm:pt modelId="{6BA94A58-C78D-AA44-90A9-35AD655E7ABF}">
      <dgm:prSet phldrT="[Text]"/>
      <dgm:spPr/>
      <dgm:t>
        <a:bodyPr/>
        <a:lstStyle/>
        <a:p>
          <a:r>
            <a:rPr lang="en-US" dirty="0" smtClean="0"/>
            <a:t>User Defined Regions</a:t>
          </a:r>
          <a:endParaRPr lang="en-US" dirty="0"/>
        </a:p>
      </dgm:t>
    </dgm:pt>
    <dgm:pt modelId="{888E547B-2AAF-F942-B3D7-DFD43C89C0CB}" type="parTrans" cxnId="{F09A71BF-2734-664E-AD39-DD9A0BCEC0BA}">
      <dgm:prSet/>
      <dgm:spPr/>
      <dgm:t>
        <a:bodyPr/>
        <a:lstStyle/>
        <a:p>
          <a:endParaRPr lang="en-US"/>
        </a:p>
      </dgm:t>
    </dgm:pt>
    <dgm:pt modelId="{35991538-FDB2-4847-8596-6DAC7C8F4B20}" type="sibTrans" cxnId="{F09A71BF-2734-664E-AD39-DD9A0BCEC0BA}">
      <dgm:prSet/>
      <dgm:spPr/>
      <dgm:t>
        <a:bodyPr/>
        <a:lstStyle/>
        <a:p>
          <a:endParaRPr lang="en-US"/>
        </a:p>
      </dgm:t>
    </dgm:pt>
    <dgm:pt modelId="{FE35EBF9-30DC-6D45-8509-AFD7A6727373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Gene</a:t>
          </a:r>
          <a:r>
            <a:rPr lang="en-US" dirty="0" smtClean="0"/>
            <a:t> </a:t>
          </a:r>
          <a:r>
            <a:rPr lang="en-US" dirty="0" smtClean="0">
              <a:solidFill>
                <a:schemeClr val="tx1"/>
              </a:solidFill>
            </a:rPr>
            <a:t>Boundaries</a:t>
          </a:r>
          <a:endParaRPr lang="en-US" dirty="0">
            <a:solidFill>
              <a:schemeClr val="tx1"/>
            </a:solidFill>
          </a:endParaRPr>
        </a:p>
      </dgm:t>
    </dgm:pt>
    <dgm:pt modelId="{ADCDD22C-B2FF-D44B-9372-8DBFD37B314A}" type="parTrans" cxnId="{C9EB97C8-E58B-F445-9F48-99CB9F43FAB5}">
      <dgm:prSet/>
      <dgm:spPr/>
      <dgm:t>
        <a:bodyPr/>
        <a:lstStyle/>
        <a:p>
          <a:endParaRPr lang="en-US"/>
        </a:p>
      </dgm:t>
    </dgm:pt>
    <dgm:pt modelId="{3A7FEE96-DCF5-884A-B56B-0A3738373FA4}" type="sibTrans" cxnId="{C9EB97C8-E58B-F445-9F48-99CB9F43FAB5}">
      <dgm:prSet/>
      <dgm:spPr/>
      <dgm:t>
        <a:bodyPr/>
        <a:lstStyle/>
        <a:p>
          <a:endParaRPr lang="en-US"/>
        </a:p>
      </dgm:t>
    </dgm:pt>
    <dgm:pt modelId="{A3E07F0F-FB2A-674C-9DDE-50BE90E08013}">
      <dgm:prSet phldrT="[Text]"/>
      <dgm:spPr/>
      <dgm:t>
        <a:bodyPr/>
        <a:lstStyle/>
        <a:p>
          <a:r>
            <a:rPr lang="en-US" dirty="0" smtClean="0"/>
            <a:t>Reference Database</a:t>
          </a:r>
          <a:endParaRPr lang="en-US" dirty="0"/>
        </a:p>
      </dgm:t>
    </dgm:pt>
    <dgm:pt modelId="{DA279DF1-5E72-EF4D-8257-B07DE841180D}" type="parTrans" cxnId="{3E047E14-8790-2E42-8A25-3F34549D7C10}">
      <dgm:prSet/>
      <dgm:spPr/>
      <dgm:t>
        <a:bodyPr/>
        <a:lstStyle/>
        <a:p>
          <a:endParaRPr lang="en-US"/>
        </a:p>
      </dgm:t>
    </dgm:pt>
    <dgm:pt modelId="{3EDC48D5-85BC-D84E-8022-D37FE249BB99}" type="sibTrans" cxnId="{3E047E14-8790-2E42-8A25-3F34549D7C10}">
      <dgm:prSet/>
      <dgm:spPr/>
      <dgm:t>
        <a:bodyPr/>
        <a:lstStyle/>
        <a:p>
          <a:endParaRPr lang="en-US"/>
        </a:p>
      </dgm:t>
    </dgm:pt>
    <dgm:pt modelId="{524E539F-966C-8B41-A808-5A047176F2FA}" type="pres">
      <dgm:prSet presAssocID="{FF2885C1-C880-E341-A958-34A31D577490}" presName="linearFlow" presStyleCnt="0">
        <dgm:presLayoutVars>
          <dgm:resizeHandles val="exact"/>
        </dgm:presLayoutVars>
      </dgm:prSet>
      <dgm:spPr/>
    </dgm:pt>
    <dgm:pt modelId="{C1E15A4C-DB19-7442-BBCD-3701594DF93D}" type="pres">
      <dgm:prSet presAssocID="{6BA94A58-C78D-AA44-90A9-35AD655E7ABF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F45A26-17DE-304E-B5A0-EDA4780A1914}" type="pres">
      <dgm:prSet presAssocID="{35991538-FDB2-4847-8596-6DAC7C8F4B20}" presName="sibTrans" presStyleLbl="sibTrans2D1" presStyleIdx="0" presStyleCnt="2"/>
      <dgm:spPr/>
      <dgm:t>
        <a:bodyPr/>
        <a:lstStyle/>
        <a:p>
          <a:endParaRPr lang="en-US"/>
        </a:p>
      </dgm:t>
    </dgm:pt>
    <dgm:pt modelId="{0BC975E1-5FC0-AB41-BC22-5A5368F23600}" type="pres">
      <dgm:prSet presAssocID="{35991538-FDB2-4847-8596-6DAC7C8F4B20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E8971701-4C8E-BB43-9720-72868F669DE8}" type="pres">
      <dgm:prSet presAssocID="{FE35EBF9-30DC-6D45-8509-AFD7A6727373}" presName="node" presStyleLbl="node1" presStyleIdx="1" presStyleCnt="3">
        <dgm:presLayoutVars>
          <dgm:bulletEnabled val="1"/>
        </dgm:presLayoutVars>
      </dgm:prSet>
      <dgm:spPr>
        <a:prstGeom prst="frame">
          <a:avLst/>
        </a:prstGeom>
      </dgm:spPr>
      <dgm:t>
        <a:bodyPr/>
        <a:lstStyle/>
        <a:p>
          <a:endParaRPr lang="en-US"/>
        </a:p>
      </dgm:t>
    </dgm:pt>
    <dgm:pt modelId="{55577BD6-FC49-8842-86A3-04E908162F73}" type="pres">
      <dgm:prSet presAssocID="{3A7FEE96-DCF5-884A-B56B-0A3738373FA4}" presName="sibTrans" presStyleLbl="sibTrans2D1" presStyleIdx="1" presStyleCnt="2"/>
      <dgm:spPr>
        <a:prstGeom prst="leftArrow">
          <a:avLst/>
        </a:prstGeom>
      </dgm:spPr>
      <dgm:t>
        <a:bodyPr/>
        <a:lstStyle/>
        <a:p>
          <a:endParaRPr lang="en-US"/>
        </a:p>
      </dgm:t>
    </dgm:pt>
    <dgm:pt modelId="{D9452B67-01D9-B343-8358-07297E9AE228}" type="pres">
      <dgm:prSet presAssocID="{3A7FEE96-DCF5-884A-B56B-0A3738373FA4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763DFBE0-302D-264C-AC56-3BE4A092030D}" type="pres">
      <dgm:prSet presAssocID="{A3E07F0F-FB2A-674C-9DDE-50BE90E08013}" presName="node" presStyleLbl="node1" presStyleIdx="2" presStyleCnt="3">
        <dgm:presLayoutVars>
          <dgm:bulletEnabled val="1"/>
        </dgm:presLayoutVars>
      </dgm:prSet>
      <dgm:spPr>
        <a:prstGeom prst="can">
          <a:avLst/>
        </a:prstGeom>
      </dgm:spPr>
      <dgm:t>
        <a:bodyPr/>
        <a:lstStyle/>
        <a:p>
          <a:endParaRPr lang="en-US"/>
        </a:p>
      </dgm:t>
    </dgm:pt>
  </dgm:ptLst>
  <dgm:cxnLst>
    <dgm:cxn modelId="{A5464C3B-E6FA-014E-85D5-536DB45A9A9B}" type="presOf" srcId="{6BA94A58-C78D-AA44-90A9-35AD655E7ABF}" destId="{C1E15A4C-DB19-7442-BBCD-3701594DF93D}" srcOrd="0" destOrd="0" presId="urn:microsoft.com/office/officeart/2005/8/layout/process2"/>
    <dgm:cxn modelId="{1E70AD13-F957-844F-A632-781EB22D0796}" type="presOf" srcId="{3A7FEE96-DCF5-884A-B56B-0A3738373FA4}" destId="{D9452B67-01D9-B343-8358-07297E9AE228}" srcOrd="1" destOrd="0" presId="urn:microsoft.com/office/officeart/2005/8/layout/process2"/>
    <dgm:cxn modelId="{C9EB97C8-E58B-F445-9F48-99CB9F43FAB5}" srcId="{FF2885C1-C880-E341-A958-34A31D577490}" destId="{FE35EBF9-30DC-6D45-8509-AFD7A6727373}" srcOrd="1" destOrd="0" parTransId="{ADCDD22C-B2FF-D44B-9372-8DBFD37B314A}" sibTransId="{3A7FEE96-DCF5-884A-B56B-0A3738373FA4}"/>
    <dgm:cxn modelId="{E5B62E7C-0950-1340-AC9C-D3D64E8558FF}" type="presOf" srcId="{FF2885C1-C880-E341-A958-34A31D577490}" destId="{524E539F-966C-8B41-A808-5A047176F2FA}" srcOrd="0" destOrd="0" presId="urn:microsoft.com/office/officeart/2005/8/layout/process2"/>
    <dgm:cxn modelId="{3E047E14-8790-2E42-8A25-3F34549D7C10}" srcId="{FF2885C1-C880-E341-A958-34A31D577490}" destId="{A3E07F0F-FB2A-674C-9DDE-50BE90E08013}" srcOrd="2" destOrd="0" parTransId="{DA279DF1-5E72-EF4D-8257-B07DE841180D}" sibTransId="{3EDC48D5-85BC-D84E-8022-D37FE249BB99}"/>
    <dgm:cxn modelId="{E9706AD6-A717-7B44-A57A-147B85D12500}" type="presOf" srcId="{35991538-FDB2-4847-8596-6DAC7C8F4B20}" destId="{BFF45A26-17DE-304E-B5A0-EDA4780A1914}" srcOrd="0" destOrd="0" presId="urn:microsoft.com/office/officeart/2005/8/layout/process2"/>
    <dgm:cxn modelId="{F09A71BF-2734-664E-AD39-DD9A0BCEC0BA}" srcId="{FF2885C1-C880-E341-A958-34A31D577490}" destId="{6BA94A58-C78D-AA44-90A9-35AD655E7ABF}" srcOrd="0" destOrd="0" parTransId="{888E547B-2AAF-F942-B3D7-DFD43C89C0CB}" sibTransId="{35991538-FDB2-4847-8596-6DAC7C8F4B20}"/>
    <dgm:cxn modelId="{07DA7BAC-4B75-0F40-B930-BF45EAC30986}" type="presOf" srcId="{A3E07F0F-FB2A-674C-9DDE-50BE90E08013}" destId="{763DFBE0-302D-264C-AC56-3BE4A092030D}" srcOrd="0" destOrd="0" presId="urn:microsoft.com/office/officeart/2005/8/layout/process2"/>
    <dgm:cxn modelId="{3CD2F3CE-FC41-0440-BE90-39BDACD3BA7B}" type="presOf" srcId="{FE35EBF9-30DC-6D45-8509-AFD7A6727373}" destId="{E8971701-4C8E-BB43-9720-72868F669DE8}" srcOrd="0" destOrd="0" presId="urn:microsoft.com/office/officeart/2005/8/layout/process2"/>
    <dgm:cxn modelId="{1B386111-8A95-AD4F-80E9-8C8E9A88D4AB}" type="presOf" srcId="{3A7FEE96-DCF5-884A-B56B-0A3738373FA4}" destId="{55577BD6-FC49-8842-86A3-04E908162F73}" srcOrd="0" destOrd="0" presId="urn:microsoft.com/office/officeart/2005/8/layout/process2"/>
    <dgm:cxn modelId="{A90FB033-F14C-1146-9316-189138549800}" type="presOf" srcId="{35991538-FDB2-4847-8596-6DAC7C8F4B20}" destId="{0BC975E1-5FC0-AB41-BC22-5A5368F23600}" srcOrd="1" destOrd="0" presId="urn:microsoft.com/office/officeart/2005/8/layout/process2"/>
    <dgm:cxn modelId="{E407FDE9-5B6D-FA4F-BB12-DB696EBEB336}" type="presParOf" srcId="{524E539F-966C-8B41-A808-5A047176F2FA}" destId="{C1E15A4C-DB19-7442-BBCD-3701594DF93D}" srcOrd="0" destOrd="0" presId="urn:microsoft.com/office/officeart/2005/8/layout/process2"/>
    <dgm:cxn modelId="{F2BC16E5-77FF-FB40-AB9F-FA9CEE08EF91}" type="presParOf" srcId="{524E539F-966C-8B41-A808-5A047176F2FA}" destId="{BFF45A26-17DE-304E-B5A0-EDA4780A1914}" srcOrd="1" destOrd="0" presId="urn:microsoft.com/office/officeart/2005/8/layout/process2"/>
    <dgm:cxn modelId="{ED897CC6-6940-5546-BA0A-7C8FDE044081}" type="presParOf" srcId="{BFF45A26-17DE-304E-B5A0-EDA4780A1914}" destId="{0BC975E1-5FC0-AB41-BC22-5A5368F23600}" srcOrd="0" destOrd="0" presId="urn:microsoft.com/office/officeart/2005/8/layout/process2"/>
    <dgm:cxn modelId="{6CCE35C8-DBB2-FD4C-B1EE-D49300DEB4E1}" type="presParOf" srcId="{524E539F-966C-8B41-A808-5A047176F2FA}" destId="{E8971701-4C8E-BB43-9720-72868F669DE8}" srcOrd="2" destOrd="0" presId="urn:microsoft.com/office/officeart/2005/8/layout/process2"/>
    <dgm:cxn modelId="{81B39E3A-1E4A-1641-B0DD-6B41B2DF12DF}" type="presParOf" srcId="{524E539F-966C-8B41-A808-5A047176F2FA}" destId="{55577BD6-FC49-8842-86A3-04E908162F73}" srcOrd="3" destOrd="0" presId="urn:microsoft.com/office/officeart/2005/8/layout/process2"/>
    <dgm:cxn modelId="{BA425A7F-F29E-EB44-B4A3-241FFC1FAF6F}" type="presParOf" srcId="{55577BD6-FC49-8842-86A3-04E908162F73}" destId="{D9452B67-01D9-B343-8358-07297E9AE228}" srcOrd="0" destOrd="0" presId="urn:microsoft.com/office/officeart/2005/8/layout/process2"/>
    <dgm:cxn modelId="{1DCC93BF-14D0-0545-AD44-F690B9EF9BB0}" type="presParOf" srcId="{524E539F-966C-8B41-A808-5A047176F2FA}" destId="{763DFBE0-302D-264C-AC56-3BE4A092030D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12AD2E-A7CC-A94A-8E01-3459C4D50886}" type="doc">
      <dgm:prSet loTypeId="urn:microsoft.com/office/officeart/2005/8/layout/process2" loCatId="" qsTypeId="urn:microsoft.com/office/officeart/2005/8/quickstyle/simple2" qsCatId="simple" csTypeId="urn:microsoft.com/office/officeart/2005/8/colors/accent1_2" csCatId="accent1" phldr="1"/>
      <dgm:spPr/>
    </dgm:pt>
    <dgm:pt modelId="{2D5E5D7C-0C7A-1642-ABD6-29F3EFC7BD32}">
      <dgm:prSet phldrT="[Text]"/>
      <dgm:spPr/>
      <dgm:t>
        <a:bodyPr/>
        <a:lstStyle/>
        <a:p>
          <a:r>
            <a:rPr lang="en-US" dirty="0" smtClean="0"/>
            <a:t>Compressed Genotypes</a:t>
          </a:r>
          <a:endParaRPr lang="en-US" dirty="0"/>
        </a:p>
      </dgm:t>
    </dgm:pt>
    <dgm:pt modelId="{A5817AF3-5545-3E4D-BAEE-F05E4FA2EBBE}" type="parTrans" cxnId="{761CBFB0-5AA8-1247-9106-2D665D7922C9}">
      <dgm:prSet/>
      <dgm:spPr/>
      <dgm:t>
        <a:bodyPr/>
        <a:lstStyle/>
        <a:p>
          <a:endParaRPr lang="en-US"/>
        </a:p>
      </dgm:t>
    </dgm:pt>
    <dgm:pt modelId="{68372760-8EF0-A146-BD97-ACE319FA646E}" type="sibTrans" cxnId="{761CBFB0-5AA8-1247-9106-2D665D7922C9}">
      <dgm:prSet/>
      <dgm:spPr/>
      <dgm:t>
        <a:bodyPr/>
        <a:lstStyle/>
        <a:p>
          <a:endParaRPr lang="en-US"/>
        </a:p>
      </dgm:t>
    </dgm:pt>
    <dgm:pt modelId="{C72BF972-D393-C743-ADFB-95B51EDEC664}">
      <dgm:prSet phldrT="[Text]" custT="1"/>
      <dgm:spPr/>
      <dgm:t>
        <a:bodyPr/>
        <a:lstStyle/>
        <a:p>
          <a:r>
            <a:rPr lang="en-US" sz="4800" smtClean="0"/>
            <a:t>Region</a:t>
          </a:r>
          <a:endParaRPr lang="en-US" sz="4800" dirty="0"/>
        </a:p>
      </dgm:t>
    </dgm:pt>
    <dgm:pt modelId="{E9C404D7-1971-5641-8AA6-00F03E1EA48C}" type="parTrans" cxnId="{775DF721-863C-204B-A7E9-EF7A6A194CC8}">
      <dgm:prSet/>
      <dgm:spPr/>
      <dgm:t>
        <a:bodyPr/>
        <a:lstStyle/>
        <a:p>
          <a:endParaRPr lang="en-US"/>
        </a:p>
      </dgm:t>
    </dgm:pt>
    <dgm:pt modelId="{F06A278F-FA63-F148-9BBF-C38B9E9EBEFF}" type="sibTrans" cxnId="{775DF721-863C-204B-A7E9-EF7A6A194CC8}">
      <dgm:prSet/>
      <dgm:spPr/>
      <dgm:t>
        <a:bodyPr/>
        <a:lstStyle/>
        <a:p>
          <a:endParaRPr lang="en-US"/>
        </a:p>
      </dgm:t>
    </dgm:pt>
    <dgm:pt modelId="{64BA4BE5-1E5D-4A44-BF52-E624C22D3E92}">
      <dgm:prSet phldrT="[Text]"/>
      <dgm:spPr/>
      <dgm:t>
        <a:bodyPr/>
        <a:lstStyle/>
        <a:p>
          <a:r>
            <a:rPr lang="en-US" dirty="0" smtClean="0">
              <a:solidFill>
                <a:srgbClr val="FFFF00"/>
              </a:solidFill>
            </a:rPr>
            <a:t>Decompressed</a:t>
          </a:r>
          <a:r>
            <a:rPr lang="en-US" dirty="0" smtClean="0"/>
            <a:t> Genotypes</a:t>
          </a:r>
          <a:endParaRPr lang="en-US" dirty="0"/>
        </a:p>
      </dgm:t>
    </dgm:pt>
    <dgm:pt modelId="{2F017FDF-BBD9-B04A-A9EA-5FF4E8325161}" type="parTrans" cxnId="{AC4078BB-45AB-DA4A-AABD-9BA69ED431C1}">
      <dgm:prSet/>
      <dgm:spPr/>
      <dgm:t>
        <a:bodyPr/>
        <a:lstStyle/>
        <a:p>
          <a:endParaRPr lang="en-US"/>
        </a:p>
      </dgm:t>
    </dgm:pt>
    <dgm:pt modelId="{EDB19D52-4EC5-924C-9B1F-63AA8D291E20}" type="sibTrans" cxnId="{AC4078BB-45AB-DA4A-AABD-9BA69ED431C1}">
      <dgm:prSet/>
      <dgm:spPr/>
      <dgm:t>
        <a:bodyPr/>
        <a:lstStyle/>
        <a:p>
          <a:endParaRPr lang="en-US"/>
        </a:p>
      </dgm:t>
    </dgm:pt>
    <dgm:pt modelId="{8E91929E-451D-7E4D-815D-D5FA49110CB3}" type="pres">
      <dgm:prSet presAssocID="{2312AD2E-A7CC-A94A-8E01-3459C4D50886}" presName="linearFlow" presStyleCnt="0">
        <dgm:presLayoutVars>
          <dgm:resizeHandles val="exact"/>
        </dgm:presLayoutVars>
      </dgm:prSet>
      <dgm:spPr/>
    </dgm:pt>
    <dgm:pt modelId="{9D875D32-0592-F147-812F-E7614B407A70}" type="pres">
      <dgm:prSet presAssocID="{2D5E5D7C-0C7A-1642-ABD6-29F3EFC7BD3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148224-EB35-D143-8133-854B8DD6FF29}" type="pres">
      <dgm:prSet presAssocID="{68372760-8EF0-A146-BD97-ACE319FA646E}" presName="sibTrans" presStyleLbl="sibTrans2D1" presStyleIdx="0" presStyleCnt="2"/>
      <dgm:spPr/>
      <dgm:t>
        <a:bodyPr/>
        <a:lstStyle/>
        <a:p>
          <a:endParaRPr lang="en-US"/>
        </a:p>
      </dgm:t>
    </dgm:pt>
    <dgm:pt modelId="{2D258B14-B2CF-344D-BB75-617C5E56A994}" type="pres">
      <dgm:prSet presAssocID="{68372760-8EF0-A146-BD97-ACE319FA646E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9D4998AD-3B2B-944E-A772-79CC400C0075}" type="pres">
      <dgm:prSet presAssocID="{C72BF972-D393-C743-ADFB-95B51EDEC664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B46E06-DC22-2140-BEF5-C3ADB28E05BE}" type="pres">
      <dgm:prSet presAssocID="{F06A278F-FA63-F148-9BBF-C38B9E9EBEFF}" presName="sibTrans" presStyleLbl="sibTrans2D1" presStyleIdx="1" presStyleCnt="2"/>
      <dgm:spPr/>
      <dgm:t>
        <a:bodyPr/>
        <a:lstStyle/>
        <a:p>
          <a:endParaRPr lang="en-US"/>
        </a:p>
      </dgm:t>
    </dgm:pt>
    <dgm:pt modelId="{A5DF42E4-B37B-3446-9C2A-DFD899C46515}" type="pres">
      <dgm:prSet presAssocID="{F06A278F-FA63-F148-9BBF-C38B9E9EBEFF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CEBC070C-3B2C-3D4A-8ED1-07BFDB1BA48F}" type="pres">
      <dgm:prSet presAssocID="{64BA4BE5-1E5D-4A44-BF52-E624C22D3E9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1CBAE16-734B-6B4D-9379-9E5CF8A4DEF3}" type="presOf" srcId="{68372760-8EF0-A146-BD97-ACE319FA646E}" destId="{E4148224-EB35-D143-8133-854B8DD6FF29}" srcOrd="0" destOrd="0" presId="urn:microsoft.com/office/officeart/2005/8/layout/process2"/>
    <dgm:cxn modelId="{952D05B1-C140-2240-B927-1D9C0F61875D}" type="presOf" srcId="{64BA4BE5-1E5D-4A44-BF52-E624C22D3E92}" destId="{CEBC070C-3B2C-3D4A-8ED1-07BFDB1BA48F}" srcOrd="0" destOrd="0" presId="urn:microsoft.com/office/officeart/2005/8/layout/process2"/>
    <dgm:cxn modelId="{8615C2E8-6244-C24A-BE85-093BE1B67B63}" type="presOf" srcId="{2312AD2E-A7CC-A94A-8E01-3459C4D50886}" destId="{8E91929E-451D-7E4D-815D-D5FA49110CB3}" srcOrd="0" destOrd="0" presId="urn:microsoft.com/office/officeart/2005/8/layout/process2"/>
    <dgm:cxn modelId="{32C449D3-E067-2F4C-A7CF-E1027676DABE}" type="presOf" srcId="{F06A278F-FA63-F148-9BBF-C38B9E9EBEFF}" destId="{A6B46E06-DC22-2140-BEF5-C3ADB28E05BE}" srcOrd="0" destOrd="0" presId="urn:microsoft.com/office/officeart/2005/8/layout/process2"/>
    <dgm:cxn modelId="{FAAE6F54-AC97-234A-BF00-920A38E0C0D0}" type="presOf" srcId="{F06A278F-FA63-F148-9BBF-C38B9E9EBEFF}" destId="{A5DF42E4-B37B-3446-9C2A-DFD899C46515}" srcOrd="1" destOrd="0" presId="urn:microsoft.com/office/officeart/2005/8/layout/process2"/>
    <dgm:cxn modelId="{005A00B7-3393-204A-B835-C1394A41F79E}" type="presOf" srcId="{C72BF972-D393-C743-ADFB-95B51EDEC664}" destId="{9D4998AD-3B2B-944E-A772-79CC400C0075}" srcOrd="0" destOrd="0" presId="urn:microsoft.com/office/officeart/2005/8/layout/process2"/>
    <dgm:cxn modelId="{AC4078BB-45AB-DA4A-AABD-9BA69ED431C1}" srcId="{2312AD2E-A7CC-A94A-8E01-3459C4D50886}" destId="{64BA4BE5-1E5D-4A44-BF52-E624C22D3E92}" srcOrd="2" destOrd="0" parTransId="{2F017FDF-BBD9-B04A-A9EA-5FF4E8325161}" sibTransId="{EDB19D52-4EC5-924C-9B1F-63AA8D291E20}"/>
    <dgm:cxn modelId="{46EC2415-5545-2041-A88F-D148573E0B6E}" type="presOf" srcId="{2D5E5D7C-0C7A-1642-ABD6-29F3EFC7BD32}" destId="{9D875D32-0592-F147-812F-E7614B407A70}" srcOrd="0" destOrd="0" presId="urn:microsoft.com/office/officeart/2005/8/layout/process2"/>
    <dgm:cxn modelId="{775DF721-863C-204B-A7E9-EF7A6A194CC8}" srcId="{2312AD2E-A7CC-A94A-8E01-3459C4D50886}" destId="{C72BF972-D393-C743-ADFB-95B51EDEC664}" srcOrd="1" destOrd="0" parTransId="{E9C404D7-1971-5641-8AA6-00F03E1EA48C}" sibTransId="{F06A278F-FA63-F148-9BBF-C38B9E9EBEFF}"/>
    <dgm:cxn modelId="{761CBFB0-5AA8-1247-9106-2D665D7922C9}" srcId="{2312AD2E-A7CC-A94A-8E01-3459C4D50886}" destId="{2D5E5D7C-0C7A-1642-ABD6-29F3EFC7BD32}" srcOrd="0" destOrd="0" parTransId="{A5817AF3-5545-3E4D-BAEE-F05E4FA2EBBE}" sibTransId="{68372760-8EF0-A146-BD97-ACE319FA646E}"/>
    <dgm:cxn modelId="{74EE8975-B9A7-794B-BBD7-6FFA91F5BBA3}" type="presOf" srcId="{68372760-8EF0-A146-BD97-ACE319FA646E}" destId="{2D258B14-B2CF-344D-BB75-617C5E56A994}" srcOrd="1" destOrd="0" presId="urn:microsoft.com/office/officeart/2005/8/layout/process2"/>
    <dgm:cxn modelId="{E285FF7E-DC56-064F-9623-2C5893E155AA}" type="presParOf" srcId="{8E91929E-451D-7E4D-815D-D5FA49110CB3}" destId="{9D875D32-0592-F147-812F-E7614B407A70}" srcOrd="0" destOrd="0" presId="urn:microsoft.com/office/officeart/2005/8/layout/process2"/>
    <dgm:cxn modelId="{5CBF22C8-7477-B444-8566-269C2C2D4407}" type="presParOf" srcId="{8E91929E-451D-7E4D-815D-D5FA49110CB3}" destId="{E4148224-EB35-D143-8133-854B8DD6FF29}" srcOrd="1" destOrd="0" presId="urn:microsoft.com/office/officeart/2005/8/layout/process2"/>
    <dgm:cxn modelId="{33AC6ADC-F153-3D4F-A7B6-648232ED5F19}" type="presParOf" srcId="{E4148224-EB35-D143-8133-854B8DD6FF29}" destId="{2D258B14-B2CF-344D-BB75-617C5E56A994}" srcOrd="0" destOrd="0" presId="urn:microsoft.com/office/officeart/2005/8/layout/process2"/>
    <dgm:cxn modelId="{AFC52CB2-37FA-3840-B8C7-161EA06CA7FD}" type="presParOf" srcId="{8E91929E-451D-7E4D-815D-D5FA49110CB3}" destId="{9D4998AD-3B2B-944E-A772-79CC400C0075}" srcOrd="2" destOrd="0" presId="urn:microsoft.com/office/officeart/2005/8/layout/process2"/>
    <dgm:cxn modelId="{402D0FCC-7FE5-3D41-B41D-61C60A49805E}" type="presParOf" srcId="{8E91929E-451D-7E4D-815D-D5FA49110CB3}" destId="{A6B46E06-DC22-2140-BEF5-C3ADB28E05BE}" srcOrd="3" destOrd="0" presId="urn:microsoft.com/office/officeart/2005/8/layout/process2"/>
    <dgm:cxn modelId="{2B175BBB-74BB-CA43-9573-9152FC1C9B78}" type="presParOf" srcId="{A6B46E06-DC22-2140-BEF5-C3ADB28E05BE}" destId="{A5DF42E4-B37B-3446-9C2A-DFD899C46515}" srcOrd="0" destOrd="0" presId="urn:microsoft.com/office/officeart/2005/8/layout/process2"/>
    <dgm:cxn modelId="{40EBE1B5-A870-844B-94CF-427439069C71}" type="presParOf" srcId="{8E91929E-451D-7E4D-815D-D5FA49110CB3}" destId="{CEBC070C-3B2C-3D4A-8ED1-07BFDB1BA48F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F2F3B-4AC7-B146-B890-A46577540397}">
      <dsp:nvSpPr>
        <dsp:cNvPr id="0" name=""/>
        <dsp:cNvSpPr/>
      </dsp:nvSpPr>
      <dsp:spPr>
        <a:xfrm>
          <a:off x="4105462" y="1172085"/>
          <a:ext cx="8988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89887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0" kern="1200"/>
        </a:p>
      </dsp:txBody>
      <dsp:txXfrm>
        <a:off x="4531663" y="1213153"/>
        <a:ext cx="46473" cy="9303"/>
      </dsp:txXfrm>
    </dsp:sp>
    <dsp:sp modelId="{C8C56471-73DE-F048-B707-3E425366DC23}">
      <dsp:nvSpPr>
        <dsp:cNvPr id="0" name=""/>
        <dsp:cNvSpPr/>
      </dsp:nvSpPr>
      <dsp:spPr>
        <a:xfrm>
          <a:off x="66064" y="5446"/>
          <a:ext cx="4041198" cy="2424718"/>
        </a:xfrm>
        <a:prstGeom prst="flowChartMultidocumen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0" tIns="355600" rIns="355600" bIns="3556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 dirty="0" smtClean="0"/>
            <a:t>Plink Data</a:t>
          </a:r>
          <a:endParaRPr lang="en-US" sz="5000" kern="1200" dirty="0"/>
        </a:p>
      </dsp:txBody>
      <dsp:txXfrm>
        <a:off x="66064" y="417985"/>
        <a:ext cx="3478985" cy="1920354"/>
      </dsp:txXfrm>
    </dsp:sp>
    <dsp:sp modelId="{4AB8A7FD-88A4-6B49-ADA0-A080FE2B91D0}">
      <dsp:nvSpPr>
        <dsp:cNvPr id="0" name=""/>
        <dsp:cNvSpPr/>
      </dsp:nvSpPr>
      <dsp:spPr>
        <a:xfrm>
          <a:off x="2086663" y="2428365"/>
          <a:ext cx="4970673" cy="898875"/>
        </a:xfrm>
        <a:custGeom>
          <a:avLst/>
          <a:gdLst/>
          <a:ahLst/>
          <a:cxnLst/>
          <a:rect l="0" t="0" r="0" b="0"/>
          <a:pathLst>
            <a:path>
              <a:moveTo>
                <a:pt x="4970673" y="0"/>
              </a:moveTo>
              <a:lnTo>
                <a:pt x="4970673" y="466537"/>
              </a:lnTo>
              <a:lnTo>
                <a:pt x="0" y="466537"/>
              </a:lnTo>
              <a:lnTo>
                <a:pt x="0" y="898875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0" kern="1200"/>
        </a:p>
      </dsp:txBody>
      <dsp:txXfrm>
        <a:off x="4445579" y="2873150"/>
        <a:ext cx="252841" cy="9303"/>
      </dsp:txXfrm>
    </dsp:sp>
    <dsp:sp modelId="{90C17530-C0B9-AE41-AB35-707FCF1F3D6F}">
      <dsp:nvSpPr>
        <dsp:cNvPr id="0" name=""/>
        <dsp:cNvSpPr/>
      </dsp:nvSpPr>
      <dsp:spPr>
        <a:xfrm>
          <a:off x="5036737" y="5446"/>
          <a:ext cx="4041198" cy="2424718"/>
        </a:xfrm>
        <a:prstGeom prst="flowChartPredefined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0" tIns="355600" rIns="355600" bIns="3556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 dirty="0" smtClean="0"/>
            <a:t>Mega2</a:t>
          </a:r>
          <a:endParaRPr lang="en-US" sz="5000" kern="1200" dirty="0"/>
        </a:p>
      </dsp:txBody>
      <dsp:txXfrm>
        <a:off x="5541887" y="5446"/>
        <a:ext cx="3030898" cy="2424718"/>
      </dsp:txXfrm>
    </dsp:sp>
    <dsp:sp modelId="{FE922FB9-21AA-514B-85DA-100C713ADFF4}">
      <dsp:nvSpPr>
        <dsp:cNvPr id="0" name=""/>
        <dsp:cNvSpPr/>
      </dsp:nvSpPr>
      <dsp:spPr>
        <a:xfrm>
          <a:off x="4105462" y="4572000"/>
          <a:ext cx="888125" cy="1064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61162" y="0"/>
              </a:lnTo>
              <a:lnTo>
                <a:pt x="461162" y="106420"/>
              </a:lnTo>
              <a:lnTo>
                <a:pt x="888125" y="1064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0" kern="1200"/>
        </a:p>
      </dsp:txBody>
      <dsp:txXfrm>
        <a:off x="4526403" y="4620558"/>
        <a:ext cx="46243" cy="9303"/>
      </dsp:txXfrm>
    </dsp:sp>
    <dsp:sp modelId="{D0DD2E67-431A-5340-802F-3C027CF0B76B}">
      <dsp:nvSpPr>
        <dsp:cNvPr id="0" name=""/>
        <dsp:cNvSpPr/>
      </dsp:nvSpPr>
      <dsp:spPr>
        <a:xfrm>
          <a:off x="66064" y="3359640"/>
          <a:ext cx="4041198" cy="2424718"/>
        </a:xfrm>
        <a:prstGeom prst="ca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0" tIns="355600" rIns="355600" bIns="3556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 dirty="0" smtClean="0">
              <a:solidFill>
                <a:srgbClr val="FFFF00"/>
              </a:solidFill>
            </a:rPr>
            <a:t>SQLite3 Database</a:t>
          </a:r>
          <a:endParaRPr lang="en-US" sz="5000" kern="1200" dirty="0">
            <a:solidFill>
              <a:srgbClr val="FFFF00"/>
            </a:solidFill>
          </a:endParaRPr>
        </a:p>
      </dsp:txBody>
      <dsp:txXfrm>
        <a:off x="66064" y="3965820"/>
        <a:ext cx="4041198" cy="1515448"/>
      </dsp:txXfrm>
    </dsp:sp>
    <dsp:sp modelId="{84A56D22-D135-454C-81D1-2A6578AE60AC}">
      <dsp:nvSpPr>
        <dsp:cNvPr id="0" name=""/>
        <dsp:cNvSpPr/>
      </dsp:nvSpPr>
      <dsp:spPr>
        <a:xfrm>
          <a:off x="7000867" y="5888980"/>
          <a:ext cx="91440" cy="7979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6050"/>
              </a:lnTo>
              <a:lnTo>
                <a:pt x="67219" y="416050"/>
              </a:lnTo>
              <a:lnTo>
                <a:pt x="67219" y="79790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0" kern="1200"/>
        </a:p>
      </dsp:txBody>
      <dsp:txXfrm>
        <a:off x="7025867" y="6283278"/>
        <a:ext cx="41438" cy="9303"/>
      </dsp:txXfrm>
    </dsp:sp>
    <dsp:sp modelId="{52152AA8-316C-604D-9019-721CD06FF857}">
      <dsp:nvSpPr>
        <dsp:cNvPr id="0" name=""/>
        <dsp:cNvSpPr/>
      </dsp:nvSpPr>
      <dsp:spPr>
        <a:xfrm>
          <a:off x="5025988" y="3466061"/>
          <a:ext cx="4041198" cy="2424718"/>
        </a:xfrm>
        <a:prstGeom prst="flowChartInternalStora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0" tIns="355600" rIns="355600" bIns="3556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 dirty="0" smtClean="0"/>
            <a:t>Mega2R</a:t>
          </a:r>
          <a:endParaRPr lang="en-US" sz="5000" kern="1200" dirty="0"/>
        </a:p>
      </dsp:txBody>
      <dsp:txXfrm>
        <a:off x="5531138" y="3769151"/>
        <a:ext cx="3536048" cy="2121628"/>
      </dsp:txXfrm>
    </dsp:sp>
    <dsp:sp modelId="{F5CB0EC5-FE34-D845-B2E3-7826F43EFBCF}">
      <dsp:nvSpPr>
        <dsp:cNvPr id="0" name=""/>
        <dsp:cNvSpPr/>
      </dsp:nvSpPr>
      <dsp:spPr>
        <a:xfrm>
          <a:off x="5047487" y="6719281"/>
          <a:ext cx="4041198" cy="2424718"/>
        </a:xfrm>
        <a:prstGeom prst="flowChartInternalStora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0" tIns="355600" rIns="355600" bIns="3556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 dirty="0" err="1" smtClean="0"/>
            <a:t>GenABEL</a:t>
          </a:r>
          <a:endParaRPr lang="en-US" sz="5000" kern="1200" dirty="0"/>
        </a:p>
      </dsp:txBody>
      <dsp:txXfrm>
        <a:off x="5552637" y="7022371"/>
        <a:ext cx="3536048" cy="21216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FB1CB-C90F-3041-80EA-6A8C1936CE7F}">
      <dsp:nvSpPr>
        <dsp:cNvPr id="0" name=""/>
        <dsp:cNvSpPr/>
      </dsp:nvSpPr>
      <dsp:spPr>
        <a:xfrm>
          <a:off x="1259386" y="746841"/>
          <a:ext cx="6625226" cy="6625226"/>
        </a:xfrm>
        <a:prstGeom prst="circularArrow">
          <a:avLst>
            <a:gd name="adj1" fmla="val 4668"/>
            <a:gd name="adj2" fmla="val 272909"/>
            <a:gd name="adj3" fmla="val 12855542"/>
            <a:gd name="adj4" fmla="val 18014404"/>
            <a:gd name="adj5" fmla="val 484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6BBE1-A1F4-CC47-958B-4602E0F65908}">
      <dsp:nvSpPr>
        <dsp:cNvPr id="0" name=""/>
        <dsp:cNvSpPr/>
      </dsp:nvSpPr>
      <dsp:spPr>
        <a:xfrm>
          <a:off x="2379761" y="919184"/>
          <a:ext cx="4384476" cy="21922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>
              <a:solidFill>
                <a:srgbClr val="FFFF00"/>
              </a:solidFill>
            </a:rPr>
            <a:t>Loop</a:t>
          </a:r>
          <a:r>
            <a:rPr lang="en-US" sz="4400" kern="1200" dirty="0" smtClean="0"/>
            <a:t> over N genes</a:t>
          </a:r>
          <a:endParaRPr lang="en-US" sz="4400" kern="1200" dirty="0"/>
        </a:p>
      </dsp:txBody>
      <dsp:txXfrm>
        <a:off x="2486777" y="1026200"/>
        <a:ext cx="4170444" cy="1978206"/>
      </dsp:txXfrm>
    </dsp:sp>
    <dsp:sp modelId="{FA6C09FB-ED46-5541-B92C-5F6FF7938998}">
      <dsp:nvSpPr>
        <dsp:cNvPr id="0" name=""/>
        <dsp:cNvSpPr/>
      </dsp:nvSpPr>
      <dsp:spPr>
        <a:xfrm>
          <a:off x="4758658" y="3298080"/>
          <a:ext cx="4384476" cy="21922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>
              <a:solidFill>
                <a:srgbClr val="FFFF00"/>
              </a:solidFill>
            </a:rPr>
            <a:t>Decompress</a:t>
          </a:r>
          <a:r>
            <a:rPr lang="en-US" sz="4400" kern="1200" dirty="0" smtClean="0"/>
            <a:t> Range n</a:t>
          </a:r>
          <a:endParaRPr lang="en-US" sz="4400" kern="1200" dirty="0"/>
        </a:p>
      </dsp:txBody>
      <dsp:txXfrm>
        <a:off x="4865674" y="3405096"/>
        <a:ext cx="4170444" cy="1978206"/>
      </dsp:txXfrm>
    </dsp:sp>
    <dsp:sp modelId="{AAFA243D-600C-B247-B64C-D3ECA208B9A7}">
      <dsp:nvSpPr>
        <dsp:cNvPr id="0" name=""/>
        <dsp:cNvSpPr/>
      </dsp:nvSpPr>
      <dsp:spPr>
        <a:xfrm>
          <a:off x="2379761" y="5676977"/>
          <a:ext cx="4384476" cy="21922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err="1" smtClean="0"/>
            <a:t>pedgene</a:t>
          </a:r>
          <a:r>
            <a:rPr lang="en-US" sz="4400" kern="1200" dirty="0" smtClean="0"/>
            <a:t> (or other R package)</a:t>
          </a:r>
          <a:endParaRPr lang="en-US" sz="4400" kern="1200" dirty="0"/>
        </a:p>
      </dsp:txBody>
      <dsp:txXfrm>
        <a:off x="2486777" y="5783993"/>
        <a:ext cx="4170444" cy="1978206"/>
      </dsp:txXfrm>
    </dsp:sp>
    <dsp:sp modelId="{016FBBD0-4935-024B-9949-5C9DAE09229E}">
      <dsp:nvSpPr>
        <dsp:cNvPr id="0" name=""/>
        <dsp:cNvSpPr/>
      </dsp:nvSpPr>
      <dsp:spPr>
        <a:xfrm>
          <a:off x="865" y="3298080"/>
          <a:ext cx="4384476" cy="21922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Result n</a:t>
          </a:r>
          <a:endParaRPr lang="en-US" sz="4400" kern="1200" dirty="0"/>
        </a:p>
      </dsp:txBody>
      <dsp:txXfrm>
        <a:off x="107881" y="3405096"/>
        <a:ext cx="4170444" cy="1978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E15A4C-DB19-7442-BBCD-3701594DF93D}">
      <dsp:nvSpPr>
        <dsp:cNvPr id="0" name=""/>
        <dsp:cNvSpPr/>
      </dsp:nvSpPr>
      <dsp:spPr>
        <a:xfrm>
          <a:off x="0" y="0"/>
          <a:ext cx="3657600" cy="2286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User Defined Regions</a:t>
          </a:r>
          <a:endParaRPr lang="en-US" sz="4000" kern="1200" dirty="0"/>
        </a:p>
      </dsp:txBody>
      <dsp:txXfrm>
        <a:off x="66955" y="66955"/>
        <a:ext cx="3523690" cy="2152090"/>
      </dsp:txXfrm>
    </dsp:sp>
    <dsp:sp modelId="{BFF45A26-17DE-304E-B5A0-EDA4780A1914}">
      <dsp:nvSpPr>
        <dsp:cNvPr id="0" name=""/>
        <dsp:cNvSpPr/>
      </dsp:nvSpPr>
      <dsp:spPr>
        <a:xfrm rot="5400000">
          <a:off x="1400174" y="2343150"/>
          <a:ext cx="857250" cy="10287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200" kern="1200"/>
        </a:p>
      </dsp:txBody>
      <dsp:txXfrm rot="-5400000">
        <a:off x="1520190" y="2428875"/>
        <a:ext cx="617220" cy="600075"/>
      </dsp:txXfrm>
    </dsp:sp>
    <dsp:sp modelId="{E8971701-4C8E-BB43-9720-72868F669DE8}">
      <dsp:nvSpPr>
        <dsp:cNvPr id="0" name=""/>
        <dsp:cNvSpPr/>
      </dsp:nvSpPr>
      <dsp:spPr>
        <a:xfrm>
          <a:off x="0" y="3429000"/>
          <a:ext cx="3657600" cy="2286000"/>
        </a:xfrm>
        <a:prstGeom prst="fram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>
              <a:solidFill>
                <a:schemeClr val="tx1"/>
              </a:solidFill>
            </a:rPr>
            <a:t>Gene</a:t>
          </a:r>
          <a:r>
            <a:rPr lang="en-US" sz="4000" kern="1200" dirty="0" smtClean="0"/>
            <a:t> </a:t>
          </a:r>
          <a:r>
            <a:rPr lang="en-US" sz="4000" kern="1200" dirty="0" smtClean="0">
              <a:solidFill>
                <a:schemeClr val="tx1"/>
              </a:solidFill>
            </a:rPr>
            <a:t>Boundaries</a:t>
          </a:r>
          <a:endParaRPr lang="en-US" sz="4000" kern="1200" dirty="0">
            <a:solidFill>
              <a:schemeClr val="tx1"/>
            </a:solidFill>
          </a:endParaRPr>
        </a:p>
      </dsp:txBody>
      <dsp:txXfrm>
        <a:off x="285750" y="3714750"/>
        <a:ext cx="3086100" cy="1714500"/>
      </dsp:txXfrm>
    </dsp:sp>
    <dsp:sp modelId="{55577BD6-FC49-8842-86A3-04E908162F73}">
      <dsp:nvSpPr>
        <dsp:cNvPr id="0" name=""/>
        <dsp:cNvSpPr/>
      </dsp:nvSpPr>
      <dsp:spPr>
        <a:xfrm rot="5400000">
          <a:off x="1400174" y="5772150"/>
          <a:ext cx="857250" cy="1028700"/>
        </a:xfrm>
        <a:prstGeom prst="lef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200" kern="1200"/>
        </a:p>
      </dsp:txBody>
      <dsp:txXfrm rot="-5400000">
        <a:off x="1520190" y="5857875"/>
        <a:ext cx="617220" cy="600075"/>
      </dsp:txXfrm>
    </dsp:sp>
    <dsp:sp modelId="{763DFBE0-302D-264C-AC56-3BE4A092030D}">
      <dsp:nvSpPr>
        <dsp:cNvPr id="0" name=""/>
        <dsp:cNvSpPr/>
      </dsp:nvSpPr>
      <dsp:spPr>
        <a:xfrm>
          <a:off x="0" y="6858000"/>
          <a:ext cx="3657600" cy="2286000"/>
        </a:xfrm>
        <a:prstGeom prst="ca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Reference Database</a:t>
          </a:r>
          <a:endParaRPr lang="en-US" sz="4000" kern="1200" dirty="0"/>
        </a:p>
      </dsp:txBody>
      <dsp:txXfrm>
        <a:off x="0" y="7429500"/>
        <a:ext cx="3657600" cy="14287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75D32-0592-F147-812F-E7614B407A70}">
      <dsp:nvSpPr>
        <dsp:cNvPr id="0" name=""/>
        <dsp:cNvSpPr/>
      </dsp:nvSpPr>
      <dsp:spPr>
        <a:xfrm>
          <a:off x="0" y="0"/>
          <a:ext cx="3657600" cy="2286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dirty="0" smtClean="0"/>
            <a:t>Compressed Genotypes</a:t>
          </a:r>
          <a:endParaRPr lang="en-US" sz="4100" kern="1200" dirty="0"/>
        </a:p>
      </dsp:txBody>
      <dsp:txXfrm>
        <a:off x="66955" y="66955"/>
        <a:ext cx="3523690" cy="2152090"/>
      </dsp:txXfrm>
    </dsp:sp>
    <dsp:sp modelId="{E4148224-EB35-D143-8133-854B8DD6FF29}">
      <dsp:nvSpPr>
        <dsp:cNvPr id="0" name=""/>
        <dsp:cNvSpPr/>
      </dsp:nvSpPr>
      <dsp:spPr>
        <a:xfrm rot="5400000">
          <a:off x="1400174" y="2343150"/>
          <a:ext cx="857250" cy="10287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300" kern="1200"/>
        </a:p>
      </dsp:txBody>
      <dsp:txXfrm rot="-5400000">
        <a:off x="1520190" y="2428875"/>
        <a:ext cx="617220" cy="600075"/>
      </dsp:txXfrm>
    </dsp:sp>
    <dsp:sp modelId="{9D4998AD-3B2B-944E-A772-79CC400C0075}">
      <dsp:nvSpPr>
        <dsp:cNvPr id="0" name=""/>
        <dsp:cNvSpPr/>
      </dsp:nvSpPr>
      <dsp:spPr>
        <a:xfrm>
          <a:off x="0" y="3429000"/>
          <a:ext cx="3657600" cy="2286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smtClean="0"/>
            <a:t>Region</a:t>
          </a:r>
          <a:endParaRPr lang="en-US" sz="4800" kern="1200" dirty="0"/>
        </a:p>
      </dsp:txBody>
      <dsp:txXfrm>
        <a:off x="66955" y="3495955"/>
        <a:ext cx="3523690" cy="2152090"/>
      </dsp:txXfrm>
    </dsp:sp>
    <dsp:sp modelId="{A6B46E06-DC22-2140-BEF5-C3ADB28E05BE}">
      <dsp:nvSpPr>
        <dsp:cNvPr id="0" name=""/>
        <dsp:cNvSpPr/>
      </dsp:nvSpPr>
      <dsp:spPr>
        <a:xfrm rot="5400000">
          <a:off x="1400174" y="5772150"/>
          <a:ext cx="857250" cy="10287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300" kern="1200"/>
        </a:p>
      </dsp:txBody>
      <dsp:txXfrm rot="-5400000">
        <a:off x="1520190" y="5857875"/>
        <a:ext cx="617220" cy="600075"/>
      </dsp:txXfrm>
    </dsp:sp>
    <dsp:sp modelId="{CEBC070C-3B2C-3D4A-8ED1-07BFDB1BA48F}">
      <dsp:nvSpPr>
        <dsp:cNvPr id="0" name=""/>
        <dsp:cNvSpPr/>
      </dsp:nvSpPr>
      <dsp:spPr>
        <a:xfrm>
          <a:off x="0" y="6858000"/>
          <a:ext cx="3657600" cy="2286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dirty="0" smtClean="0">
              <a:solidFill>
                <a:srgbClr val="FFFF00"/>
              </a:solidFill>
            </a:rPr>
            <a:t>Decompressed</a:t>
          </a:r>
          <a:r>
            <a:rPr lang="en-US" sz="4100" kern="1200" dirty="0" smtClean="0"/>
            <a:t> Genotypes</a:t>
          </a:r>
          <a:endParaRPr lang="en-US" sz="4100" kern="1200" dirty="0"/>
        </a:p>
      </dsp:txBody>
      <dsp:txXfrm>
        <a:off x="66955" y="6924955"/>
        <a:ext cx="3523690" cy="21520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985E0-AC7B-3D4C-A5BD-9CFE8A2EAC6A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03438" y="685800"/>
            <a:ext cx="2651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DC77-D9DD-404A-BB8E-59D250F344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010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1pPr>
    <a:lvl2pPr marL="2037786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2pPr>
    <a:lvl3pPr marL="4075572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3pPr>
    <a:lvl4pPr marL="6113358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4pPr>
    <a:lvl5pPr marL="8151144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5pPr>
    <a:lvl6pPr marL="10188931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6pPr>
    <a:lvl7pPr marL="12226717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7pPr>
    <a:lvl8pPr marL="14264503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8pPr>
    <a:lvl9pPr marL="16302289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0" marR="0" indent="0" algn="l" defTabSz="20377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0DC77-D9DD-404A-BB8E-59D250F3443E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1720" y="12498496"/>
            <a:ext cx="26426160" cy="862414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3440" y="22799040"/>
            <a:ext cx="21762720" cy="10281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377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075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113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151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188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226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264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302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5864" y="25853816"/>
            <a:ext cx="26426160" cy="7990840"/>
          </a:xfrm>
        </p:spPr>
        <p:txBody>
          <a:bodyPr anchor="t"/>
          <a:lstStyle>
            <a:lvl1pPr algn="l">
              <a:defRPr sz="17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5864" y="17052719"/>
            <a:ext cx="26426160" cy="8801097"/>
          </a:xfrm>
        </p:spPr>
        <p:txBody>
          <a:bodyPr anchor="b"/>
          <a:lstStyle>
            <a:lvl1pPr marL="0" indent="0">
              <a:buNone/>
              <a:defRPr sz="8900">
                <a:solidFill>
                  <a:schemeClr val="tx1">
                    <a:tint val="75000"/>
                  </a:schemeClr>
                </a:solidFill>
              </a:defRPr>
            </a:lvl1pPr>
            <a:lvl2pPr marL="2037786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4075572" indent="0">
              <a:buNone/>
              <a:defRPr sz="7100">
                <a:solidFill>
                  <a:schemeClr val="tx1">
                    <a:tint val="75000"/>
                  </a:schemeClr>
                </a:solidFill>
              </a:defRPr>
            </a:lvl3pPr>
            <a:lvl4pPr marL="6113358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4pPr>
            <a:lvl5pPr marL="8151144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5pPr>
            <a:lvl6pPr marL="10188931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6pPr>
            <a:lvl7pPr marL="12226717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7pPr>
            <a:lvl8pPr marL="14264503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8pPr>
            <a:lvl9pPr marL="16302289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4480" y="9387843"/>
            <a:ext cx="13731240" cy="26552316"/>
          </a:xfrm>
        </p:spPr>
        <p:txBody>
          <a:bodyPr/>
          <a:lstStyle>
            <a:lvl1pPr>
              <a:defRPr sz="12500"/>
            </a:lvl1pPr>
            <a:lvl2pPr>
              <a:defRPr sz="10700"/>
            </a:lvl2pPr>
            <a:lvl3pPr>
              <a:defRPr sz="89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03880" y="9387843"/>
            <a:ext cx="13731240" cy="26552316"/>
          </a:xfrm>
        </p:spPr>
        <p:txBody>
          <a:bodyPr/>
          <a:lstStyle>
            <a:lvl1pPr>
              <a:defRPr sz="12500"/>
            </a:lvl1pPr>
            <a:lvl2pPr>
              <a:defRPr sz="10700"/>
            </a:lvl2pPr>
            <a:lvl3pPr>
              <a:defRPr sz="89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9005996"/>
            <a:ext cx="13736639" cy="3753270"/>
          </a:xfrm>
        </p:spPr>
        <p:txBody>
          <a:bodyPr anchor="b"/>
          <a:lstStyle>
            <a:lvl1pPr marL="0" indent="0">
              <a:buNone/>
              <a:defRPr sz="10700" b="1"/>
            </a:lvl1pPr>
            <a:lvl2pPr marL="2037786" indent="0">
              <a:buNone/>
              <a:defRPr sz="8900" b="1"/>
            </a:lvl2pPr>
            <a:lvl3pPr marL="4075572" indent="0">
              <a:buNone/>
              <a:defRPr sz="8000" b="1"/>
            </a:lvl3pPr>
            <a:lvl4pPr marL="6113358" indent="0">
              <a:buNone/>
              <a:defRPr sz="7100" b="1"/>
            </a:lvl4pPr>
            <a:lvl5pPr marL="8151144" indent="0">
              <a:buNone/>
              <a:defRPr sz="7100" b="1"/>
            </a:lvl5pPr>
            <a:lvl6pPr marL="10188931" indent="0">
              <a:buNone/>
              <a:defRPr sz="7100" b="1"/>
            </a:lvl6pPr>
            <a:lvl7pPr marL="12226717" indent="0">
              <a:buNone/>
              <a:defRPr sz="7100" b="1"/>
            </a:lvl7pPr>
            <a:lvl8pPr marL="14264503" indent="0">
              <a:buNone/>
              <a:defRPr sz="7100" b="1"/>
            </a:lvl8pPr>
            <a:lvl9pPr marL="16302289" indent="0">
              <a:buNone/>
              <a:defRPr sz="7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12759266"/>
            <a:ext cx="13736639" cy="23180890"/>
          </a:xfrm>
        </p:spPr>
        <p:txBody>
          <a:bodyPr/>
          <a:lstStyle>
            <a:lvl1pPr>
              <a:defRPr sz="10700"/>
            </a:lvl1pPr>
            <a:lvl2pPr>
              <a:defRPr sz="8900"/>
            </a:lvl2pPr>
            <a:lvl3pPr>
              <a:defRPr sz="8000"/>
            </a:lvl3pPr>
            <a:lvl4pPr>
              <a:defRPr sz="7100"/>
            </a:lvl4pPr>
            <a:lvl5pPr>
              <a:defRPr sz="7100"/>
            </a:lvl5pPr>
            <a:lvl6pPr>
              <a:defRPr sz="7100"/>
            </a:lvl6pPr>
            <a:lvl7pPr>
              <a:defRPr sz="7100"/>
            </a:lvl7pPr>
            <a:lvl8pPr>
              <a:defRPr sz="7100"/>
            </a:lvl8pPr>
            <a:lvl9pPr>
              <a:defRPr sz="7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793087" y="9005996"/>
            <a:ext cx="13742035" cy="3753270"/>
          </a:xfrm>
        </p:spPr>
        <p:txBody>
          <a:bodyPr anchor="b"/>
          <a:lstStyle>
            <a:lvl1pPr marL="0" indent="0">
              <a:buNone/>
              <a:defRPr sz="10700" b="1"/>
            </a:lvl1pPr>
            <a:lvl2pPr marL="2037786" indent="0">
              <a:buNone/>
              <a:defRPr sz="8900" b="1"/>
            </a:lvl2pPr>
            <a:lvl3pPr marL="4075572" indent="0">
              <a:buNone/>
              <a:defRPr sz="8000" b="1"/>
            </a:lvl3pPr>
            <a:lvl4pPr marL="6113358" indent="0">
              <a:buNone/>
              <a:defRPr sz="7100" b="1"/>
            </a:lvl4pPr>
            <a:lvl5pPr marL="8151144" indent="0">
              <a:buNone/>
              <a:defRPr sz="7100" b="1"/>
            </a:lvl5pPr>
            <a:lvl6pPr marL="10188931" indent="0">
              <a:buNone/>
              <a:defRPr sz="7100" b="1"/>
            </a:lvl6pPr>
            <a:lvl7pPr marL="12226717" indent="0">
              <a:buNone/>
              <a:defRPr sz="7100" b="1"/>
            </a:lvl7pPr>
            <a:lvl8pPr marL="14264503" indent="0">
              <a:buNone/>
              <a:defRPr sz="7100" b="1"/>
            </a:lvl8pPr>
            <a:lvl9pPr marL="16302289" indent="0">
              <a:buNone/>
              <a:defRPr sz="7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793087" y="12759266"/>
            <a:ext cx="13742035" cy="23180890"/>
          </a:xfrm>
        </p:spPr>
        <p:txBody>
          <a:bodyPr/>
          <a:lstStyle>
            <a:lvl1pPr>
              <a:defRPr sz="10700"/>
            </a:lvl1pPr>
            <a:lvl2pPr>
              <a:defRPr sz="8900"/>
            </a:lvl2pPr>
            <a:lvl3pPr>
              <a:defRPr sz="8000"/>
            </a:lvl3pPr>
            <a:lvl4pPr>
              <a:defRPr sz="7100"/>
            </a:lvl4pPr>
            <a:lvl5pPr>
              <a:defRPr sz="7100"/>
            </a:lvl5pPr>
            <a:lvl6pPr>
              <a:defRPr sz="7100"/>
            </a:lvl6pPr>
            <a:lvl7pPr>
              <a:defRPr sz="7100"/>
            </a:lvl7pPr>
            <a:lvl8pPr>
              <a:defRPr sz="7100"/>
            </a:lvl8pPr>
            <a:lvl9pPr>
              <a:defRPr sz="7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2" y="1601893"/>
            <a:ext cx="10228264" cy="6817360"/>
          </a:xfrm>
        </p:spPr>
        <p:txBody>
          <a:bodyPr anchor="b"/>
          <a:lstStyle>
            <a:lvl1pPr algn="l">
              <a:defRPr sz="8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55170" y="1601896"/>
            <a:ext cx="17379950" cy="34338263"/>
          </a:xfrm>
        </p:spPr>
        <p:txBody>
          <a:bodyPr/>
          <a:lstStyle>
            <a:lvl1pPr>
              <a:defRPr sz="14300"/>
            </a:lvl1pPr>
            <a:lvl2pPr>
              <a:defRPr sz="12500"/>
            </a:lvl2pPr>
            <a:lvl3pPr>
              <a:defRPr sz="10700"/>
            </a:lvl3pPr>
            <a:lvl4pPr>
              <a:defRPr sz="8900"/>
            </a:lvl4pPr>
            <a:lvl5pPr>
              <a:defRPr sz="8900"/>
            </a:lvl5pPr>
            <a:lvl6pPr>
              <a:defRPr sz="8900"/>
            </a:lvl6pPr>
            <a:lvl7pPr>
              <a:defRPr sz="8900"/>
            </a:lvl7pPr>
            <a:lvl8pPr>
              <a:defRPr sz="8900"/>
            </a:lvl8pPr>
            <a:lvl9pPr>
              <a:defRPr sz="8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2" y="8419256"/>
            <a:ext cx="10228264" cy="27520903"/>
          </a:xfrm>
        </p:spPr>
        <p:txBody>
          <a:bodyPr/>
          <a:lstStyle>
            <a:lvl1pPr marL="0" indent="0">
              <a:buNone/>
              <a:defRPr sz="6200"/>
            </a:lvl1pPr>
            <a:lvl2pPr marL="2037786" indent="0">
              <a:buNone/>
              <a:defRPr sz="5300"/>
            </a:lvl2pPr>
            <a:lvl3pPr marL="4075572" indent="0">
              <a:buNone/>
              <a:defRPr sz="4500"/>
            </a:lvl3pPr>
            <a:lvl4pPr marL="6113358" indent="0">
              <a:buNone/>
              <a:defRPr sz="4000"/>
            </a:lvl4pPr>
            <a:lvl5pPr marL="8151144" indent="0">
              <a:buNone/>
              <a:defRPr sz="4000"/>
            </a:lvl5pPr>
            <a:lvl6pPr marL="10188931" indent="0">
              <a:buNone/>
              <a:defRPr sz="4000"/>
            </a:lvl6pPr>
            <a:lvl7pPr marL="12226717" indent="0">
              <a:buNone/>
              <a:defRPr sz="4000"/>
            </a:lvl7pPr>
            <a:lvl8pPr marL="14264503" indent="0">
              <a:buNone/>
              <a:defRPr sz="4000"/>
            </a:lvl8pPr>
            <a:lvl9pPr marL="16302289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3779" y="28163520"/>
            <a:ext cx="18653760" cy="3324863"/>
          </a:xfrm>
        </p:spPr>
        <p:txBody>
          <a:bodyPr anchor="b"/>
          <a:lstStyle>
            <a:lvl1pPr algn="l">
              <a:defRPr sz="8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3779" y="3594947"/>
            <a:ext cx="18653760" cy="24140160"/>
          </a:xfrm>
        </p:spPr>
        <p:txBody>
          <a:bodyPr/>
          <a:lstStyle>
            <a:lvl1pPr marL="0" indent="0">
              <a:buNone/>
              <a:defRPr sz="14300"/>
            </a:lvl1pPr>
            <a:lvl2pPr marL="2037786" indent="0">
              <a:buNone/>
              <a:defRPr sz="12500"/>
            </a:lvl2pPr>
            <a:lvl3pPr marL="4075572" indent="0">
              <a:buNone/>
              <a:defRPr sz="10700"/>
            </a:lvl3pPr>
            <a:lvl4pPr marL="6113358" indent="0">
              <a:buNone/>
              <a:defRPr sz="8900"/>
            </a:lvl4pPr>
            <a:lvl5pPr marL="8151144" indent="0">
              <a:buNone/>
              <a:defRPr sz="8900"/>
            </a:lvl5pPr>
            <a:lvl6pPr marL="10188931" indent="0">
              <a:buNone/>
              <a:defRPr sz="8900"/>
            </a:lvl6pPr>
            <a:lvl7pPr marL="12226717" indent="0">
              <a:buNone/>
              <a:defRPr sz="8900"/>
            </a:lvl7pPr>
            <a:lvl8pPr marL="14264503" indent="0">
              <a:buNone/>
              <a:defRPr sz="8900"/>
            </a:lvl8pPr>
            <a:lvl9pPr marL="16302289" indent="0">
              <a:buNone/>
              <a:defRPr sz="89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3779" y="31488383"/>
            <a:ext cx="18653760" cy="4721857"/>
          </a:xfrm>
        </p:spPr>
        <p:txBody>
          <a:bodyPr/>
          <a:lstStyle>
            <a:lvl1pPr marL="0" indent="0">
              <a:buNone/>
              <a:defRPr sz="6200"/>
            </a:lvl1pPr>
            <a:lvl2pPr marL="2037786" indent="0">
              <a:buNone/>
              <a:defRPr sz="5300"/>
            </a:lvl2pPr>
            <a:lvl3pPr marL="4075572" indent="0">
              <a:buNone/>
              <a:defRPr sz="4500"/>
            </a:lvl3pPr>
            <a:lvl4pPr marL="6113358" indent="0">
              <a:buNone/>
              <a:defRPr sz="4000"/>
            </a:lvl4pPr>
            <a:lvl5pPr marL="8151144" indent="0">
              <a:buNone/>
              <a:defRPr sz="4000"/>
            </a:lvl5pPr>
            <a:lvl6pPr marL="10188931" indent="0">
              <a:buNone/>
              <a:defRPr sz="4000"/>
            </a:lvl6pPr>
            <a:lvl7pPr marL="12226717" indent="0">
              <a:buNone/>
              <a:defRPr sz="4000"/>
            </a:lvl7pPr>
            <a:lvl8pPr marL="14264503" indent="0">
              <a:buNone/>
              <a:defRPr sz="4000"/>
            </a:lvl8pPr>
            <a:lvl9pPr marL="16302289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539960" y="1611212"/>
            <a:ext cx="6995160" cy="3432894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4480" y="1611212"/>
            <a:ext cx="20467320" cy="3432894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4480" y="1611210"/>
            <a:ext cx="27980640" cy="6705600"/>
          </a:xfrm>
          <a:prstGeom prst="rect">
            <a:avLst/>
          </a:prstGeom>
        </p:spPr>
        <p:txBody>
          <a:bodyPr vert="horz" lIns="407557" tIns="203779" rIns="407557" bIns="20377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9387843"/>
            <a:ext cx="27980640" cy="26552316"/>
          </a:xfrm>
          <a:prstGeom prst="rect">
            <a:avLst/>
          </a:prstGeom>
        </p:spPr>
        <p:txBody>
          <a:bodyPr vert="horz" lIns="407557" tIns="203779" rIns="407557" bIns="20377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4480" y="37290589"/>
            <a:ext cx="7254240" cy="2142067"/>
          </a:xfrm>
          <a:prstGeom prst="rect">
            <a:avLst/>
          </a:prstGeom>
        </p:spPr>
        <p:txBody>
          <a:bodyPr vert="horz" lIns="407557" tIns="203779" rIns="407557" bIns="203779" rtlCol="0" anchor="ctr"/>
          <a:lstStyle>
            <a:lvl1pPr algn="l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C0A24-95E3-E24B-9E79-9271EC8244CA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22280" y="37290589"/>
            <a:ext cx="9845040" cy="2142067"/>
          </a:xfrm>
          <a:prstGeom prst="rect">
            <a:avLst/>
          </a:prstGeom>
        </p:spPr>
        <p:txBody>
          <a:bodyPr vert="horz" lIns="407557" tIns="203779" rIns="407557" bIns="203779" rtlCol="0" anchor="ctr"/>
          <a:lstStyle>
            <a:lvl1pPr algn="ct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280880" y="37290589"/>
            <a:ext cx="7254240" cy="2142067"/>
          </a:xfrm>
          <a:prstGeom prst="rect">
            <a:avLst/>
          </a:prstGeom>
        </p:spPr>
        <p:txBody>
          <a:bodyPr vert="horz" lIns="407557" tIns="203779" rIns="407557" bIns="203779" rtlCol="0" anchor="ctr"/>
          <a:lstStyle>
            <a:lvl1pPr algn="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CC57C-8F1E-CC4D-BE8A-CA571E16E4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37786" rtl="0" eaLnBrk="1" latinLnBrk="0" hangingPunct="1">
        <a:spcBef>
          <a:spcPct val="0"/>
        </a:spcBef>
        <a:buNone/>
        <a:defRPr sz="19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8340" indent="-1528340" algn="l" defTabSz="2037786" rtl="0" eaLnBrk="1" latinLnBrk="0" hangingPunct="1">
        <a:spcBef>
          <a:spcPct val="20000"/>
        </a:spcBef>
        <a:buFont typeface="Arial"/>
        <a:buChar char="•"/>
        <a:defRPr sz="14300" kern="1200">
          <a:solidFill>
            <a:schemeClr val="tx1"/>
          </a:solidFill>
          <a:latin typeface="+mn-lt"/>
          <a:ea typeface="+mn-ea"/>
          <a:cs typeface="+mn-cs"/>
        </a:defRPr>
      </a:lvl1pPr>
      <a:lvl2pPr marL="3311402" indent="-1273616" algn="l" defTabSz="2037786" rtl="0" eaLnBrk="1" latinLnBrk="0" hangingPunct="1">
        <a:spcBef>
          <a:spcPct val="20000"/>
        </a:spcBef>
        <a:buFont typeface="Arial"/>
        <a:buChar char="–"/>
        <a:defRPr sz="12500" kern="1200">
          <a:solidFill>
            <a:schemeClr val="tx1"/>
          </a:solidFill>
          <a:latin typeface="+mn-lt"/>
          <a:ea typeface="+mn-ea"/>
          <a:cs typeface="+mn-cs"/>
        </a:defRPr>
      </a:lvl2pPr>
      <a:lvl3pPr marL="5094465" indent="-1018893" algn="l" defTabSz="2037786" rtl="0" eaLnBrk="1" latinLnBrk="0" hangingPunct="1">
        <a:spcBef>
          <a:spcPct val="20000"/>
        </a:spcBef>
        <a:buFont typeface="Arial"/>
        <a:buChar char="•"/>
        <a:defRPr sz="10700" kern="1200">
          <a:solidFill>
            <a:schemeClr val="tx1"/>
          </a:solidFill>
          <a:latin typeface="+mn-lt"/>
          <a:ea typeface="+mn-ea"/>
          <a:cs typeface="+mn-cs"/>
        </a:defRPr>
      </a:lvl3pPr>
      <a:lvl4pPr marL="7132251" indent="-1018893" algn="l" defTabSz="2037786" rtl="0" eaLnBrk="1" latinLnBrk="0" hangingPunct="1">
        <a:spcBef>
          <a:spcPct val="20000"/>
        </a:spcBef>
        <a:buFont typeface="Arial"/>
        <a:buChar char="–"/>
        <a:defRPr sz="8900" kern="1200">
          <a:solidFill>
            <a:schemeClr val="tx1"/>
          </a:solidFill>
          <a:latin typeface="+mn-lt"/>
          <a:ea typeface="+mn-ea"/>
          <a:cs typeface="+mn-cs"/>
        </a:defRPr>
      </a:lvl4pPr>
      <a:lvl5pPr marL="9170038" indent="-1018893" algn="l" defTabSz="2037786" rtl="0" eaLnBrk="1" latinLnBrk="0" hangingPunct="1">
        <a:spcBef>
          <a:spcPct val="20000"/>
        </a:spcBef>
        <a:buFont typeface="Arial"/>
        <a:buChar char="»"/>
        <a:defRPr sz="8900" kern="1200">
          <a:solidFill>
            <a:schemeClr val="tx1"/>
          </a:solidFill>
          <a:latin typeface="+mn-lt"/>
          <a:ea typeface="+mn-ea"/>
          <a:cs typeface="+mn-cs"/>
        </a:defRPr>
      </a:lvl5pPr>
      <a:lvl6pPr marL="11207824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6pPr>
      <a:lvl7pPr marL="13245610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7pPr>
      <a:lvl8pPr marL="15283396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8pPr>
      <a:lvl9pPr marL="17321182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1pPr>
      <a:lvl2pPr marL="2037786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2pPr>
      <a:lvl3pPr marL="4075572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113358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4pPr>
      <a:lvl5pPr marL="8151144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5pPr>
      <a:lvl6pPr marL="10188931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6pPr>
      <a:lvl7pPr marL="12226717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7pPr>
      <a:lvl8pPr marL="14264503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8pPr>
      <a:lvl9pPr marL="16302289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microsoft.com/office/2007/relationships/diagramDrawing" Target="../diagrams/drawing1.xml"/><Relationship Id="rId20" Type="http://schemas.openxmlformats.org/officeDocument/2006/relationships/diagramData" Target="../diagrams/data4.xml"/><Relationship Id="rId21" Type="http://schemas.openxmlformats.org/officeDocument/2006/relationships/diagramLayout" Target="../diagrams/layout4.xml"/><Relationship Id="rId22" Type="http://schemas.openxmlformats.org/officeDocument/2006/relationships/diagramQuickStyle" Target="../diagrams/quickStyle4.xml"/><Relationship Id="rId23" Type="http://schemas.openxmlformats.org/officeDocument/2006/relationships/diagramColors" Target="../diagrams/colors4.xml"/><Relationship Id="rId24" Type="http://schemas.microsoft.com/office/2007/relationships/diagramDrawing" Target="../diagrams/drawing4.xml"/><Relationship Id="rId25" Type="http://schemas.openxmlformats.org/officeDocument/2006/relationships/image" Target="../media/image2.jpg"/><Relationship Id="rId26" Type="http://schemas.openxmlformats.org/officeDocument/2006/relationships/image" Target="../media/image3.jpg"/><Relationship Id="rId10" Type="http://schemas.openxmlformats.org/officeDocument/2006/relationships/diagramData" Target="../diagrams/data2.xml"/><Relationship Id="rId11" Type="http://schemas.openxmlformats.org/officeDocument/2006/relationships/diagramLayout" Target="../diagrams/layout2.xml"/><Relationship Id="rId12" Type="http://schemas.openxmlformats.org/officeDocument/2006/relationships/diagramQuickStyle" Target="../diagrams/quickStyle2.xml"/><Relationship Id="rId13" Type="http://schemas.openxmlformats.org/officeDocument/2006/relationships/diagramColors" Target="../diagrams/colors2.xml"/><Relationship Id="rId14" Type="http://schemas.microsoft.com/office/2007/relationships/diagramDrawing" Target="../diagrams/drawing2.xml"/><Relationship Id="rId15" Type="http://schemas.openxmlformats.org/officeDocument/2006/relationships/diagramData" Target="../diagrams/data3.xml"/><Relationship Id="rId16" Type="http://schemas.openxmlformats.org/officeDocument/2006/relationships/diagramLayout" Target="../diagrams/layout3.xml"/><Relationship Id="rId17" Type="http://schemas.openxmlformats.org/officeDocument/2006/relationships/diagramQuickStyle" Target="../diagrams/quickStyle3.xml"/><Relationship Id="rId18" Type="http://schemas.openxmlformats.org/officeDocument/2006/relationships/diagramColors" Target="../diagrams/colors3.xml"/><Relationship Id="rId19" Type="http://schemas.microsoft.com/office/2007/relationships/diagramDrawing" Target="../diagrams/drawing3.xm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://watson.hgen.pitt.edu/register/" TargetMode="External"/><Relationship Id="rId5" Type="http://schemas.openxmlformats.org/officeDocument/2006/relationships/diagramData" Target="../diagrams/data1.xml"/><Relationship Id="rId6" Type="http://schemas.openxmlformats.org/officeDocument/2006/relationships/diagramLayout" Target="../diagrams/layout1.xml"/><Relationship Id="rId7" Type="http://schemas.openxmlformats.org/officeDocument/2006/relationships/diagramQuickStyle" Target="../diagrams/quickStyle1.xml"/><Relationship Id="rId8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12"/>
          <p:cNvSpPr txBox="1">
            <a:spLocks noChangeArrowheads="1"/>
          </p:cNvSpPr>
          <p:nvPr/>
        </p:nvSpPr>
        <p:spPr bwMode="auto">
          <a:xfrm>
            <a:off x="11146545" y="6641901"/>
            <a:ext cx="9144000" cy="7478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4800" b="1" dirty="0" smtClean="0">
                <a:solidFill>
                  <a:srgbClr val="800000"/>
                </a:solidFill>
              </a:rPr>
              <a:t>What is Mega2R:</a:t>
            </a:r>
          </a:p>
          <a:p>
            <a:r>
              <a:rPr lang="en-US" sz="4800" dirty="0" smtClean="0">
                <a:solidFill>
                  <a:srgbClr val="000000"/>
                </a:solidFill>
              </a:rPr>
              <a:t>An efficient pathway from many data formats via </a:t>
            </a:r>
            <a:r>
              <a:rPr lang="en-US" sz="4800" b="1" dirty="0" smtClean="0">
                <a:solidFill>
                  <a:srgbClr val="000000"/>
                </a:solidFill>
              </a:rPr>
              <a:t>a Mega2-created database</a:t>
            </a:r>
            <a:r>
              <a:rPr lang="en-US" sz="4800" dirty="0" smtClean="0">
                <a:solidFill>
                  <a:srgbClr val="000000"/>
                </a:solidFill>
              </a:rPr>
              <a:t> into R data frames. These data can be easily used in other R packages and functions.</a:t>
            </a:r>
            <a:endParaRPr lang="en-US" sz="4800" dirty="0" smtClean="0"/>
          </a:p>
          <a:p>
            <a:r>
              <a:rPr lang="en-US" sz="4800" b="1" dirty="0" smtClean="0">
                <a:solidFill>
                  <a:srgbClr val="800000"/>
                </a:solidFill>
              </a:rPr>
              <a:t>Input:</a:t>
            </a:r>
          </a:p>
          <a:p>
            <a:r>
              <a:rPr lang="en-US" sz="4800" dirty="0" smtClean="0"/>
              <a:t>     Mega2 SQLite3 </a:t>
            </a:r>
            <a:r>
              <a:rPr lang="en-US" sz="4800" dirty="0"/>
              <a:t>d</a:t>
            </a:r>
            <a:r>
              <a:rPr lang="en-US" sz="4800" dirty="0" smtClean="0"/>
              <a:t>atabase tables.</a:t>
            </a:r>
          </a:p>
          <a:p>
            <a:endParaRPr lang="en-US" sz="4800" dirty="0" smtClean="0"/>
          </a:p>
          <a:p>
            <a:r>
              <a:rPr lang="en-US" sz="4800" b="1" dirty="0" smtClean="0">
                <a:solidFill>
                  <a:srgbClr val="800000"/>
                </a:solidFill>
              </a:rPr>
              <a:t>Example conversion to </a:t>
            </a:r>
            <a:r>
              <a:rPr lang="en-US" sz="4800" b="1" dirty="0" err="1" smtClean="0">
                <a:solidFill>
                  <a:srgbClr val="800000"/>
                </a:solidFill>
              </a:rPr>
              <a:t>GenABEL</a:t>
            </a:r>
            <a:r>
              <a:rPr lang="en-US" sz="4800" b="1" dirty="0" smtClean="0">
                <a:solidFill>
                  <a:srgbClr val="800000"/>
                </a:solidFill>
              </a:rPr>
              <a:t>:</a:t>
            </a:r>
            <a:endParaRPr lang="en-US" sz="4800" b="1" dirty="0">
              <a:solidFill>
                <a:srgbClr val="8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48309" y="444357"/>
            <a:ext cx="24649091" cy="47089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9600" b="1" dirty="0" smtClean="0">
                <a:solidFill>
                  <a:srgbClr val="800000"/>
                </a:solidFill>
              </a:rPr>
              <a:t>The Mega2R R </a:t>
            </a:r>
            <a:r>
              <a:rPr lang="en-US" sz="9600" b="1" dirty="0">
                <a:solidFill>
                  <a:srgbClr val="800000"/>
                </a:solidFill>
              </a:rPr>
              <a:t>p</a:t>
            </a:r>
            <a:r>
              <a:rPr lang="en-US" sz="9600" b="1" dirty="0" smtClean="0">
                <a:solidFill>
                  <a:srgbClr val="800000"/>
                </a:solidFill>
              </a:rPr>
              <a:t>ackage: Tools for accessing and processing common genetic data formats in R.</a:t>
            </a:r>
            <a:endParaRPr lang="en-US" sz="9600" dirty="0" smtClean="0">
              <a:solidFill>
                <a:srgbClr val="800000"/>
              </a:solidFill>
            </a:endParaRPr>
          </a:p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Daniel E. Weeks</a:t>
            </a:r>
            <a:r>
              <a:rPr lang="en-US" sz="4400" baseline="30000" dirty="0">
                <a:solidFill>
                  <a:schemeClr val="accent1">
                    <a:lumMod val="75000"/>
                  </a:schemeClr>
                </a:solidFill>
              </a:rPr>
              <a:t>1,2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,Robert V. Baron</a:t>
            </a:r>
            <a:r>
              <a:rPr lang="en-US" sz="4400" baseline="30000" dirty="0" smtClean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, Justin R. Stickel</a:t>
            </a:r>
            <a:r>
              <a:rPr lang="en-US" sz="4400" baseline="30000" dirty="0" smtClean="0">
                <a:solidFill>
                  <a:schemeClr val="accent1">
                    <a:lumMod val="75000"/>
                  </a:schemeClr>
                </a:solidFill>
              </a:rPr>
              <a:t>1</a:t>
            </a:r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aseline="30000" dirty="0" smtClean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Department of Human Genetics, Graduate School of Public Health, University of Pittsburgh, </a:t>
            </a:r>
            <a:r>
              <a:rPr lang="en-US" sz="3200" baseline="30000" dirty="0" smtClean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Department of Biostatistics, Graduate School of Public Health, University of Pittsburgh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840785" y="6649144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800000"/>
                </a:solidFill>
              </a:rPr>
              <a:t>What is Mega2:</a:t>
            </a:r>
          </a:p>
          <a:p>
            <a:r>
              <a:rPr lang="en-US" sz="4800" dirty="0" smtClean="0">
                <a:solidFill>
                  <a:srgbClr val="000000"/>
                </a:solidFill>
              </a:rPr>
              <a:t>Data reformatting tool in C++ for genetic analysis</a:t>
            </a:r>
            <a:r>
              <a:rPr lang="en-US" sz="4800" dirty="0" smtClean="0">
                <a:solidFill>
                  <a:srgbClr val="000000"/>
                </a:solidFill>
              </a:rPr>
              <a:t>. </a:t>
            </a:r>
            <a:r>
              <a:rPr lang="en-US" sz="4800" baseline="30000" dirty="0" smtClean="0">
                <a:solidFill>
                  <a:srgbClr val="000000"/>
                </a:solidFill>
              </a:rPr>
              <a:t>1,2</a:t>
            </a:r>
            <a:endParaRPr lang="en-US" sz="4800" dirty="0" smtClean="0">
              <a:solidFill>
                <a:srgbClr val="953735"/>
              </a:solidFill>
            </a:endParaRPr>
          </a:p>
          <a:p>
            <a:r>
              <a:rPr lang="en-US" sz="4800" b="1" dirty="0" smtClean="0">
                <a:solidFill>
                  <a:srgbClr val="800000"/>
                </a:solidFill>
              </a:rPr>
              <a:t>Input formats:</a:t>
            </a:r>
          </a:p>
        </p:txBody>
      </p:sp>
      <p:pic>
        <p:nvPicPr>
          <p:cNvPr id="16" name="Picture 15" descr="2000px-UofPittsburgh_Seal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80" y="295440"/>
            <a:ext cx="4812580" cy="507245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01778" y="35508892"/>
            <a:ext cx="3038142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b="1" dirty="0" smtClean="0">
                <a:solidFill>
                  <a:srgbClr val="953735"/>
                </a:solidFill>
              </a:rPr>
              <a:t>References: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 smtClean="0"/>
              <a:t>Baron et al. (2014) </a:t>
            </a:r>
            <a:r>
              <a:rPr lang="en-US" sz="4000" dirty="0"/>
              <a:t>Mega2: validated data-reformatting for linkage and association </a:t>
            </a:r>
            <a:r>
              <a:rPr lang="en-US" sz="4000" dirty="0" smtClean="0"/>
              <a:t>analyses. </a:t>
            </a:r>
            <a:r>
              <a:rPr lang="fr-FR" sz="4000" dirty="0"/>
              <a:t>Source Code </a:t>
            </a:r>
            <a:r>
              <a:rPr lang="fr-FR" sz="4000" dirty="0" err="1"/>
              <a:t>Biol</a:t>
            </a:r>
            <a:r>
              <a:rPr lang="fr-FR" sz="4000" dirty="0"/>
              <a:t> Med. 2014 </a:t>
            </a:r>
            <a:r>
              <a:rPr lang="fr-FR" sz="4000" dirty="0" err="1"/>
              <a:t>Dec</a:t>
            </a:r>
            <a:r>
              <a:rPr lang="fr-FR" sz="4000" dirty="0"/>
              <a:t> 5;9(1):26.</a:t>
            </a:r>
            <a:endParaRPr lang="en-US" sz="4000" dirty="0" smtClean="0"/>
          </a:p>
          <a:p>
            <a:pPr marL="742950" indent="-742950">
              <a:buFont typeface="+mj-lt"/>
              <a:buAutoNum type="arabicPeriod"/>
            </a:pPr>
            <a:r>
              <a:rPr lang="en-US" sz="4000" dirty="0" err="1" smtClean="0"/>
              <a:t>Mukhopadhyay</a:t>
            </a:r>
            <a:r>
              <a:rPr lang="en-US" sz="4000" dirty="0" smtClean="0"/>
              <a:t> et al. (2005) Mega2: data-handling for facilitating genetic linkage and association analyses. Bioinformatics 21:2556-255</a:t>
            </a:r>
            <a:r>
              <a:rPr lang="en-US" sz="4000" dirty="0" smtClean="0"/>
              <a:t>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 err="1" smtClean="0"/>
              <a:t>Schaid</a:t>
            </a:r>
            <a:r>
              <a:rPr lang="en-US" sz="4000" dirty="0"/>
              <a:t> </a:t>
            </a:r>
            <a:r>
              <a:rPr lang="en-US" sz="4000" dirty="0" smtClean="0"/>
              <a:t>et al. (2013) Multiple genetic variant association testing by collapsing and kernel methods with pedigree or population structured data. Genet </a:t>
            </a:r>
            <a:r>
              <a:rPr lang="en-US" sz="4000" dirty="0" err="1" smtClean="0"/>
              <a:t>Epidimiol</a:t>
            </a:r>
            <a:r>
              <a:rPr lang="en-US" sz="4000" dirty="0" smtClean="0"/>
              <a:t> 37(5):408-418.</a:t>
            </a:r>
            <a:endParaRPr lang="en-US" sz="4000" dirty="0" smtClean="0"/>
          </a:p>
          <a:p>
            <a:pPr marL="742950" indent="-742950">
              <a:buFont typeface="+mj-lt"/>
              <a:buAutoNum type="arabicPeriod"/>
            </a:pPr>
            <a:r>
              <a:rPr lang="en-US" sz="4000" dirty="0" err="1" smtClean="0"/>
              <a:t>Aulchenko</a:t>
            </a:r>
            <a:r>
              <a:rPr lang="en-US" sz="4000" dirty="0" smtClean="0"/>
              <a:t> </a:t>
            </a:r>
            <a:r>
              <a:rPr lang="en-US" sz="4000" dirty="0" smtClean="0"/>
              <a:t>YS et al. (2007) </a:t>
            </a:r>
            <a:r>
              <a:rPr lang="en-US" sz="4000" dirty="0" err="1" smtClean="0"/>
              <a:t>GenABEL</a:t>
            </a:r>
            <a:r>
              <a:rPr lang="en-US" sz="4000" dirty="0" smtClean="0"/>
              <a:t>: an R library for genome-wide association analysis. Bioinformatics. 2007 May 15;23(10):1294-6.</a:t>
            </a:r>
          </a:p>
          <a:p>
            <a:pPr marL="742950" indent="-742950">
              <a:buFont typeface="+mj-lt"/>
              <a:buAutoNum type="arabicPeriod"/>
            </a:pPr>
            <a:endParaRPr lang="en-US" sz="52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301780" y="39446200"/>
            <a:ext cx="18474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olidFill>
                  <a:srgbClr val="800000"/>
                </a:solidFill>
              </a:rPr>
              <a:t>Acknowledgments:  </a:t>
            </a:r>
            <a:r>
              <a:rPr lang="en-US" sz="4000" dirty="0" smtClean="0"/>
              <a:t>This work was supported by NIH grant R01 GM076667 (PI: Weeks) )</a:t>
            </a:r>
            <a:endParaRPr lang="en-US" sz="4000" dirty="0"/>
          </a:p>
        </p:txBody>
      </p:sp>
      <p:sp>
        <p:nvSpPr>
          <p:cNvPr id="30" name="TextBox 29"/>
          <p:cNvSpPr txBox="1"/>
          <p:nvPr/>
        </p:nvSpPr>
        <p:spPr>
          <a:xfrm>
            <a:off x="5788525" y="34371410"/>
            <a:ext cx="2316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Mega2R-</a:t>
            </a:r>
            <a:r>
              <a:rPr lang="en-US" sz="4000" dirty="0" smtClean="0"/>
              <a:t>&gt;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559740"/>
              </p:ext>
            </p:extLst>
          </p:nvPr>
        </p:nvGraphicFramePr>
        <p:xfrm>
          <a:off x="840785" y="9677975"/>
          <a:ext cx="9144000" cy="246888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5102815"/>
                <a:gridCol w="4041185"/>
              </a:tblGrid>
              <a:tr h="0">
                <a:tc>
                  <a:txBody>
                    <a:bodyPr/>
                    <a:lstStyle/>
                    <a:p>
                      <a:pPr marL="0" marR="0" indent="0" algn="l" defTabSz="20377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dirty="0" smtClean="0"/>
                        <a:t>PLINK PED/BED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VCF/BCF</a:t>
                      </a:r>
                      <a:endParaRPr lang="en-US" sz="4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Linkage</a:t>
                      </a:r>
                      <a:endParaRPr lang="en-US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Impute2</a:t>
                      </a:r>
                      <a:endParaRPr lang="en-US" sz="4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Mega2 Annotated</a:t>
                      </a:r>
                      <a:endParaRPr lang="en-US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0788" y="21377704"/>
            <a:ext cx="9144000" cy="12649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800000"/>
                </a:solidFill>
              </a:rPr>
              <a:t>Recent </a:t>
            </a:r>
            <a:r>
              <a:rPr lang="en-US" sz="4800" b="1" dirty="0" smtClean="0">
                <a:solidFill>
                  <a:srgbClr val="800000"/>
                </a:solidFill>
              </a:rPr>
              <a:t>enhancements:</a:t>
            </a:r>
            <a:endParaRPr lang="en-US" sz="4800" b="1" dirty="0">
              <a:solidFill>
                <a:srgbClr val="800000"/>
              </a:solidFill>
            </a:endParaRPr>
          </a:p>
          <a:p>
            <a:pPr marL="1627632" lvl="1" indent="-685800">
              <a:buFont typeface="Arial"/>
              <a:buChar char="•"/>
            </a:pPr>
            <a:r>
              <a:rPr lang="en-US" sz="4800" dirty="0" smtClean="0">
                <a:solidFill>
                  <a:srgbClr val="000000"/>
                </a:solidFill>
              </a:rPr>
              <a:t>SQLite3 Database</a:t>
            </a:r>
          </a:p>
          <a:p>
            <a:pPr marL="1627632" lvl="1" indent="-685800">
              <a:buFont typeface="Arial"/>
              <a:buChar char="•"/>
            </a:pPr>
            <a:r>
              <a:rPr lang="en-US" sz="4800" dirty="0" smtClean="0">
                <a:solidFill>
                  <a:srgbClr val="000000"/>
                </a:solidFill>
              </a:rPr>
              <a:t>Alignment </a:t>
            </a:r>
            <a:r>
              <a:rPr lang="en-US" sz="4800" dirty="0">
                <a:solidFill>
                  <a:srgbClr val="000000"/>
                </a:solidFill>
              </a:rPr>
              <a:t>to Reference </a:t>
            </a:r>
            <a:r>
              <a:rPr lang="en-US" sz="4800" dirty="0" smtClean="0">
                <a:solidFill>
                  <a:srgbClr val="000000"/>
                </a:solidFill>
              </a:rPr>
              <a:t>Alleles</a:t>
            </a:r>
            <a:endParaRPr lang="en-US" sz="4800" dirty="0">
              <a:solidFill>
                <a:srgbClr val="000000"/>
              </a:solidFill>
            </a:endParaRPr>
          </a:p>
          <a:p>
            <a:r>
              <a:rPr lang="en-US" sz="4800" b="1" dirty="0" smtClean="0">
                <a:solidFill>
                  <a:srgbClr val="800000"/>
                </a:solidFill>
              </a:rPr>
              <a:t>SQLite3 </a:t>
            </a:r>
            <a:r>
              <a:rPr lang="en-US" sz="4800" b="1" dirty="0">
                <a:solidFill>
                  <a:srgbClr val="800000"/>
                </a:solidFill>
              </a:rPr>
              <a:t>Database Tables:</a:t>
            </a:r>
          </a:p>
          <a:p>
            <a:pPr marL="1627632" lvl="1" indent="-685800">
              <a:buFont typeface="Arial"/>
              <a:buChar char="•"/>
            </a:pPr>
            <a:r>
              <a:rPr lang="en-US" sz="4800" dirty="0">
                <a:solidFill>
                  <a:srgbClr val="000000"/>
                </a:solidFill>
              </a:rPr>
              <a:t>Pedigree/Person tables</a:t>
            </a:r>
          </a:p>
          <a:p>
            <a:pPr marL="1627632" lvl="1" indent="-685800">
              <a:buFont typeface="Arial"/>
              <a:buChar char="•"/>
            </a:pPr>
            <a:r>
              <a:rPr lang="en-US" sz="4800" dirty="0">
                <a:solidFill>
                  <a:srgbClr val="000000"/>
                </a:solidFill>
              </a:rPr>
              <a:t>Locus/Marker/Allele/Map tables</a:t>
            </a:r>
          </a:p>
          <a:p>
            <a:pPr marL="1627632" lvl="1" indent="-685800">
              <a:buFont typeface="Arial"/>
              <a:buChar char="•"/>
            </a:pPr>
            <a:r>
              <a:rPr lang="en-US" sz="4800" dirty="0">
                <a:solidFill>
                  <a:srgbClr val="000000"/>
                </a:solidFill>
              </a:rPr>
              <a:t>Phenotype/Genotype tables</a:t>
            </a:r>
          </a:p>
          <a:p>
            <a:r>
              <a:rPr lang="en-US" sz="4800" b="1" dirty="0" smtClean="0">
                <a:solidFill>
                  <a:srgbClr val="800000"/>
                </a:solidFill>
              </a:rPr>
              <a:t>Availability:</a:t>
            </a:r>
          </a:p>
          <a:p>
            <a:pPr marL="1627632" lvl="1" indent="-685800">
              <a:buFont typeface="Arial"/>
              <a:buChar char="•"/>
            </a:pPr>
            <a:r>
              <a:rPr lang="en-US" sz="4800" dirty="0" smtClean="0"/>
              <a:t>Open </a:t>
            </a:r>
            <a:r>
              <a:rPr lang="en-US" sz="4800" dirty="0"/>
              <a:t>source (C++) </a:t>
            </a:r>
            <a:r>
              <a:rPr lang="en-US" sz="4800" dirty="0" smtClean="0"/>
              <a:t>implementation.</a:t>
            </a:r>
          </a:p>
          <a:p>
            <a:pPr marL="1627632" lvl="1" indent="-685800">
              <a:buFont typeface="Arial"/>
              <a:buChar char="•"/>
            </a:pPr>
            <a:r>
              <a:rPr lang="en-US" sz="4800" dirty="0"/>
              <a:t>F</a:t>
            </a:r>
            <a:r>
              <a:rPr lang="en-US" sz="4800" dirty="0" smtClean="0"/>
              <a:t>reely available.</a:t>
            </a:r>
          </a:p>
          <a:p>
            <a:pPr marL="1627632" lvl="1" indent="-685800">
              <a:buFont typeface="Arial"/>
              <a:buChar char="•"/>
            </a:pPr>
            <a:r>
              <a:rPr lang="en-US" sz="4800" dirty="0" smtClean="0"/>
              <a:t>Linux</a:t>
            </a:r>
            <a:r>
              <a:rPr lang="en-US" sz="4800" dirty="0"/>
              <a:t>, Mac, Solaris, and </a:t>
            </a:r>
            <a:r>
              <a:rPr lang="en-US" sz="4800" dirty="0" smtClean="0"/>
              <a:t>Windows 	</a:t>
            </a:r>
          </a:p>
          <a:p>
            <a:r>
              <a:rPr lang="en-US" sz="4800" dirty="0" smtClean="0">
                <a:hlinkClick r:id="rId4"/>
              </a:rPr>
              <a:t>https:</a:t>
            </a:r>
            <a:r>
              <a:rPr lang="en-US" sz="4800" dirty="0">
                <a:hlinkClick r:id="rId4"/>
              </a:rPr>
              <a:t>//watson.hgen.pitt.edu/register/</a:t>
            </a:r>
            <a:endParaRPr lang="en-US" sz="4800" dirty="0"/>
          </a:p>
        </p:txBody>
      </p:sp>
      <p:sp>
        <p:nvSpPr>
          <p:cNvPr id="9" name="TextBox 8"/>
          <p:cNvSpPr txBox="1"/>
          <p:nvPr/>
        </p:nvSpPr>
        <p:spPr>
          <a:xfrm>
            <a:off x="840785" y="12538504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800000"/>
                </a:solidFill>
              </a:rPr>
              <a:t>Output formats/analysis programs: </a:t>
            </a:r>
            <a:r>
              <a:rPr lang="en-US" sz="4800" b="1" dirty="0" smtClean="0">
                <a:solidFill>
                  <a:srgbClr val="FF0000"/>
                </a:solidFill>
              </a:rPr>
              <a:t>(Recently added)</a:t>
            </a:r>
            <a:endParaRPr lang="en-US" sz="4800" b="1" dirty="0">
              <a:solidFill>
                <a:srgbClr val="FF0000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39953"/>
              </p:ext>
            </p:extLst>
          </p:nvPr>
        </p:nvGraphicFramePr>
        <p:xfrm>
          <a:off x="840787" y="14185123"/>
          <a:ext cx="9144000" cy="6639576"/>
        </p:xfrm>
        <a:graphic>
          <a:graphicData uri="http://schemas.openxmlformats.org/drawingml/2006/table">
            <a:tbl>
              <a:tblPr bandRow="1">
                <a:tableStyleId>{22838BEF-8BB2-4498-84A7-C5851F593DF1}</a:tableStyleId>
              </a:tblPr>
              <a:tblGrid>
                <a:gridCol w="5371142"/>
                <a:gridCol w="3772858"/>
              </a:tblGrid>
              <a:tr h="960426">
                <a:tc>
                  <a:txBody>
                    <a:bodyPr/>
                    <a:lstStyle/>
                    <a:p>
                      <a:r>
                        <a:rPr lang="en-US" sz="4800" b="0" dirty="0" smtClean="0">
                          <a:solidFill>
                            <a:srgbClr val="FF0000"/>
                          </a:solidFill>
                        </a:rPr>
                        <a:t>Minimac3/</a:t>
                      </a:r>
                      <a:r>
                        <a:rPr lang="en-US" sz="4800" b="0" dirty="0" err="1" smtClean="0">
                          <a:solidFill>
                            <a:srgbClr val="FF0000"/>
                          </a:solidFill>
                        </a:rPr>
                        <a:t>Shapeit</a:t>
                      </a:r>
                      <a:endParaRPr lang="en-US" sz="4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800" b="0" dirty="0" smtClean="0">
                          <a:solidFill>
                            <a:srgbClr val="FF0000"/>
                          </a:solidFill>
                        </a:rPr>
                        <a:t>VCF</a:t>
                      </a:r>
                      <a:endParaRPr lang="en-US" sz="4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877020">
                <a:tc>
                  <a:txBody>
                    <a:bodyPr/>
                    <a:lstStyle/>
                    <a:p>
                      <a:pPr marL="0" marR="0" indent="0" algn="l" defTabSz="20377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dirty="0" smtClean="0">
                          <a:solidFill>
                            <a:srgbClr val="FF0000"/>
                          </a:solidFill>
                        </a:rPr>
                        <a:t>ROADTRIPS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PLINK</a:t>
                      </a:r>
                      <a:endParaRPr lang="en-US" sz="4800" dirty="0"/>
                    </a:p>
                  </a:txBody>
                  <a:tcPr/>
                </a:tc>
              </a:tr>
              <a:tr h="960426"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Loki</a:t>
                      </a:r>
                      <a:endParaRPr lang="en-US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Mendel</a:t>
                      </a:r>
                      <a:endParaRPr lang="en-US" sz="4800" dirty="0"/>
                    </a:p>
                  </a:txBody>
                  <a:tcPr/>
                </a:tc>
              </a:tr>
              <a:tr h="960426"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PLINK/SEQ</a:t>
                      </a:r>
                      <a:endParaRPr lang="en-US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FBAT</a:t>
                      </a:r>
                      <a:endParaRPr lang="en-US" sz="4800" dirty="0"/>
                    </a:p>
                  </a:txBody>
                  <a:tcPr/>
                </a:tc>
              </a:tr>
              <a:tr h="960426">
                <a:tc>
                  <a:txBody>
                    <a:bodyPr/>
                    <a:lstStyle/>
                    <a:p>
                      <a:r>
                        <a:rPr lang="en-US" sz="4800" dirty="0" err="1" smtClean="0"/>
                        <a:t>Cranefoot</a:t>
                      </a:r>
                      <a:endParaRPr lang="en-US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Morgan</a:t>
                      </a:r>
                      <a:endParaRPr lang="en-US" sz="4800" dirty="0"/>
                    </a:p>
                  </a:txBody>
                  <a:tcPr/>
                </a:tc>
              </a:tr>
              <a:tr h="960426"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Merlin</a:t>
                      </a:r>
                      <a:endParaRPr lang="en-US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Beagle</a:t>
                      </a:r>
                      <a:endParaRPr lang="en-US" sz="4800" dirty="0"/>
                    </a:p>
                  </a:txBody>
                  <a:tcPr/>
                </a:tc>
              </a:tr>
              <a:tr h="960426"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Mega2 Annotated</a:t>
                      </a:r>
                      <a:endParaRPr lang="en-US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800" dirty="0" smtClean="0"/>
                        <a:t>Simwalk2</a:t>
                      </a:r>
                      <a:endParaRPr lang="en-US" sz="4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009087" y="16853028"/>
            <a:ext cx="9144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800000"/>
                </a:solidFill>
              </a:rPr>
              <a:t>Iteration wrapper:</a:t>
            </a:r>
          </a:p>
          <a:p>
            <a:r>
              <a:rPr lang="en-US" sz="4800" b="1" dirty="0">
                <a:solidFill>
                  <a:srgbClr val="953735"/>
                </a:solidFill>
              </a:rPr>
              <a:t> </a:t>
            </a:r>
            <a:r>
              <a:rPr lang="en-US" sz="4800" b="1" dirty="0" smtClean="0">
                <a:solidFill>
                  <a:srgbClr val="953735"/>
                </a:solidFill>
              </a:rPr>
              <a:t>    </a:t>
            </a:r>
            <a:r>
              <a:rPr lang="en-US" sz="4800" b="1" dirty="0" smtClean="0"/>
              <a:t>Extensive efficient flexible wrapper </a:t>
            </a:r>
            <a:r>
              <a:rPr lang="en-US" sz="4800" dirty="0" smtClean="0"/>
              <a:t>to iterate through gene regions.</a:t>
            </a:r>
          </a:p>
          <a:p>
            <a:r>
              <a:rPr lang="en-US" sz="4800" b="1" dirty="0">
                <a:solidFill>
                  <a:schemeClr val="accent6"/>
                </a:solidFill>
              </a:rPr>
              <a:t> </a:t>
            </a:r>
            <a:r>
              <a:rPr lang="en-US" sz="4800" b="1" dirty="0" smtClean="0">
                <a:solidFill>
                  <a:schemeClr val="accent6"/>
                </a:solidFill>
              </a:rPr>
              <a:t>    </a:t>
            </a:r>
            <a:r>
              <a:rPr lang="en-US" sz="4800" dirty="0" smtClean="0"/>
              <a:t>This wrapper can run R functions, which analyze only a single region at a time, on multiple genes.</a:t>
            </a:r>
            <a:endParaRPr lang="en-US" sz="4800" b="1" dirty="0" smtClean="0">
              <a:solidFill>
                <a:schemeClr val="accent6"/>
              </a:solidFill>
            </a:endParaRPr>
          </a:p>
        </p:txBody>
      </p: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1345163673"/>
              </p:ext>
            </p:extLst>
          </p:nvPr>
        </p:nvGraphicFramePr>
        <p:xfrm>
          <a:off x="11146544" y="15322742"/>
          <a:ext cx="9144000" cy="914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1146544" y="24466742"/>
            <a:ext cx="9144000" cy="10433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800000"/>
                </a:solidFill>
              </a:rPr>
              <a:t>Region extraction:</a:t>
            </a:r>
          </a:p>
          <a:p>
            <a:r>
              <a:rPr lang="en-US" sz="4800" b="1" dirty="0">
                <a:solidFill>
                  <a:srgbClr val="800000"/>
                </a:solidFill>
              </a:rPr>
              <a:t> </a:t>
            </a:r>
            <a:r>
              <a:rPr lang="en-US" sz="4800" b="1" dirty="0" smtClean="0">
                <a:solidFill>
                  <a:srgbClr val="800000"/>
                </a:solidFill>
              </a:rPr>
              <a:t>    </a:t>
            </a:r>
            <a:r>
              <a:rPr lang="en-US" sz="4800" b="1" dirty="0" smtClean="0">
                <a:solidFill>
                  <a:srgbClr val="000000"/>
                </a:solidFill>
              </a:rPr>
              <a:t>Memory-efficient extraction </a:t>
            </a:r>
            <a:r>
              <a:rPr lang="en-US" sz="4800" dirty="0" smtClean="0">
                <a:solidFill>
                  <a:srgbClr val="000000"/>
                </a:solidFill>
              </a:rPr>
              <a:t>of ranges of genotype data within selected regions.</a:t>
            </a:r>
          </a:p>
          <a:p>
            <a:r>
              <a:rPr lang="en-US" sz="4800" dirty="0"/>
              <a:t> </a:t>
            </a:r>
            <a:r>
              <a:rPr lang="en-US" sz="4800" dirty="0" smtClean="0"/>
              <a:t>    Regions </a:t>
            </a:r>
            <a:r>
              <a:rPr lang="en-US" sz="4800" dirty="0"/>
              <a:t>can be defined by the user or by using a transcription database such as those available in </a:t>
            </a:r>
            <a:r>
              <a:rPr lang="en-US" sz="4800" dirty="0" err="1"/>
              <a:t>Bioconductor</a:t>
            </a:r>
            <a:r>
              <a:rPr lang="en-US" sz="4800" dirty="0"/>
              <a:t>.</a:t>
            </a:r>
          </a:p>
          <a:p>
            <a:r>
              <a:rPr lang="en-US" sz="4800" dirty="0"/>
              <a:t> </a:t>
            </a:r>
            <a:r>
              <a:rPr lang="en-US" sz="4800" dirty="0" smtClean="0"/>
              <a:t>   </a:t>
            </a:r>
            <a:r>
              <a:rPr lang="en-US" sz="4800" b="1" dirty="0" smtClean="0"/>
              <a:t> Genotype </a:t>
            </a:r>
            <a:r>
              <a:rPr lang="en-US" sz="4800" b="1" dirty="0"/>
              <a:t>data is compressed </a:t>
            </a:r>
            <a:r>
              <a:rPr lang="en-US" sz="4800" dirty="0"/>
              <a:t>in the database for storage purposes, Mega2R can extract and decompress data for use in Mega2R’s iterative wrapper or for any other R packages</a:t>
            </a:r>
            <a:r>
              <a:rPr lang="en-US" sz="4800" dirty="0" smtClean="0"/>
              <a:t>.</a:t>
            </a:r>
            <a:endParaRPr lang="en-US" sz="4800" dirty="0"/>
          </a:p>
        </p:txBody>
      </p:sp>
      <p:sp>
        <p:nvSpPr>
          <p:cNvPr id="23" name="TextBox 22"/>
          <p:cNvSpPr txBox="1"/>
          <p:nvPr/>
        </p:nvSpPr>
        <p:spPr>
          <a:xfrm>
            <a:off x="10617200" y="5464667"/>
            <a:ext cx="19611446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7200" b="1" dirty="0" smtClean="0">
                <a:solidFill>
                  <a:srgbClr val="800000"/>
                </a:solidFill>
              </a:rPr>
              <a:t>Mega2R</a:t>
            </a:r>
            <a:endParaRPr lang="en-US" sz="7200" b="1" dirty="0">
              <a:solidFill>
                <a:srgbClr val="800000"/>
              </a:solidFill>
            </a:endParaRPr>
          </a:p>
        </p:txBody>
      </p:sp>
      <p:graphicFrame>
        <p:nvGraphicFramePr>
          <p:cNvPr id="24" name="Diagram 23"/>
          <p:cNvGraphicFramePr/>
          <p:nvPr>
            <p:extLst>
              <p:ext uri="{D42A27DB-BD31-4B8C-83A1-F6EECF244321}">
                <p14:modId xmlns:p14="http://schemas.microsoft.com/office/powerpoint/2010/main" val="3907626524"/>
              </p:ext>
            </p:extLst>
          </p:nvPr>
        </p:nvGraphicFramePr>
        <p:xfrm>
          <a:off x="21084646" y="21993748"/>
          <a:ext cx="9144000" cy="878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41" name="Diagram 40"/>
          <p:cNvGraphicFramePr/>
          <p:nvPr>
            <p:extLst>
              <p:ext uri="{D42A27DB-BD31-4B8C-83A1-F6EECF244321}">
                <p14:modId xmlns:p14="http://schemas.microsoft.com/office/powerpoint/2010/main" val="544492472"/>
              </p:ext>
            </p:extLst>
          </p:nvPr>
        </p:nvGraphicFramePr>
        <p:xfrm>
          <a:off x="21084646" y="7571466"/>
          <a:ext cx="3657600" cy="914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aphicFrame>
        <p:nvGraphicFramePr>
          <p:cNvPr id="42" name="Diagram 41"/>
          <p:cNvGraphicFramePr/>
          <p:nvPr>
            <p:extLst>
              <p:ext uri="{D42A27DB-BD31-4B8C-83A1-F6EECF244321}">
                <p14:modId xmlns:p14="http://schemas.microsoft.com/office/powerpoint/2010/main" val="1826584303"/>
              </p:ext>
            </p:extLst>
          </p:nvPr>
        </p:nvGraphicFramePr>
        <p:xfrm>
          <a:off x="26576339" y="7574855"/>
          <a:ext cx="3657600" cy="914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21089939" y="30094668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800000"/>
                </a:solidFill>
              </a:rPr>
              <a:t>Example R functions:</a:t>
            </a:r>
            <a:endParaRPr lang="en-US" sz="4800" b="1" dirty="0">
              <a:solidFill>
                <a:srgbClr val="800000"/>
              </a:solidFill>
            </a:endParaRPr>
          </a:p>
          <a:p>
            <a:r>
              <a:rPr lang="en-US" sz="4800" b="1" dirty="0">
                <a:solidFill>
                  <a:srgbClr val="800000"/>
                </a:solidFill>
              </a:rPr>
              <a:t> </a:t>
            </a:r>
            <a:r>
              <a:rPr lang="en-US" sz="4800" b="1" dirty="0" smtClean="0">
                <a:solidFill>
                  <a:srgbClr val="800000"/>
                </a:solidFill>
              </a:rPr>
              <a:t>    </a:t>
            </a:r>
            <a:r>
              <a:rPr lang="en-US" sz="4800" dirty="0" smtClean="0">
                <a:solidFill>
                  <a:srgbClr val="000000"/>
                </a:solidFill>
              </a:rPr>
              <a:t>Mega2pedgene</a:t>
            </a:r>
            <a:r>
              <a:rPr lang="en-US" sz="4800" baseline="30000" dirty="0" smtClean="0">
                <a:solidFill>
                  <a:srgbClr val="000000"/>
                </a:solidFill>
              </a:rPr>
              <a:t>3</a:t>
            </a:r>
          </a:p>
          <a:p>
            <a:r>
              <a:rPr lang="en-US" sz="4800" dirty="0" smtClean="0">
                <a:solidFill>
                  <a:srgbClr val="000000"/>
                </a:solidFill>
              </a:rPr>
              <a:t>     Mega2GenABEL</a:t>
            </a:r>
            <a:r>
              <a:rPr lang="en-US" sz="4800" baseline="30000" dirty="0" smtClean="0">
                <a:solidFill>
                  <a:srgbClr val="000000"/>
                </a:solidFill>
              </a:rPr>
              <a:t>4</a:t>
            </a:r>
            <a:endParaRPr lang="en-US" sz="4800" baseline="30000" dirty="0">
              <a:solidFill>
                <a:srgbClr val="000000"/>
              </a:solidFill>
            </a:endParaRPr>
          </a:p>
          <a:p>
            <a:r>
              <a:rPr lang="en-US" sz="4800" dirty="0">
                <a:solidFill>
                  <a:srgbClr val="000000"/>
                </a:solidFill>
              </a:rPr>
              <a:t> </a:t>
            </a:r>
            <a:r>
              <a:rPr lang="en-US" sz="4800" dirty="0" smtClean="0">
                <a:solidFill>
                  <a:srgbClr val="000000"/>
                </a:solidFill>
              </a:rPr>
              <a:t>    Mega2VCF</a:t>
            </a:r>
            <a:endParaRPr lang="en-US" sz="4800" dirty="0">
              <a:solidFill>
                <a:srgbClr val="000000"/>
              </a:solidFill>
            </a:endParaRPr>
          </a:p>
          <a:p>
            <a:r>
              <a:rPr lang="en-US" sz="4800" b="1" dirty="0" smtClean="0">
                <a:solidFill>
                  <a:srgbClr val="800000"/>
                </a:solidFill>
              </a:rPr>
              <a:t>Requirements</a:t>
            </a:r>
            <a:r>
              <a:rPr lang="en-US" sz="4800" b="1" dirty="0">
                <a:solidFill>
                  <a:srgbClr val="800000"/>
                </a:solidFill>
              </a:rPr>
              <a:t>:  </a:t>
            </a:r>
            <a:r>
              <a:rPr lang="en-US" sz="4800" dirty="0" smtClean="0"/>
              <a:t>R</a:t>
            </a:r>
            <a:r>
              <a:rPr lang="en-US" sz="4800" dirty="0"/>
              <a:t>, Mega2</a:t>
            </a:r>
          </a:p>
          <a:p>
            <a:r>
              <a:rPr lang="en-US" sz="4800" b="1" dirty="0" smtClean="0">
                <a:solidFill>
                  <a:srgbClr val="800000"/>
                </a:solidFill>
              </a:rPr>
              <a:t>Available with tutorial</a:t>
            </a:r>
            <a:r>
              <a:rPr lang="en-US" sz="4800" dirty="0" smtClean="0">
                <a:solidFill>
                  <a:srgbClr val="800000"/>
                </a:solidFill>
              </a:rPr>
              <a:t>: </a:t>
            </a:r>
            <a:r>
              <a:rPr lang="en-US" sz="4800" dirty="0" smtClean="0"/>
              <a:t>CRAN </a:t>
            </a:r>
            <a:endParaRPr lang="en-US" sz="4800" dirty="0"/>
          </a:p>
        </p:txBody>
      </p:sp>
      <p:sp>
        <p:nvSpPr>
          <p:cNvPr id="2" name="TextBox 1"/>
          <p:cNvSpPr txBox="1"/>
          <p:nvPr/>
        </p:nvSpPr>
        <p:spPr>
          <a:xfrm>
            <a:off x="840788" y="5464667"/>
            <a:ext cx="9776412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7200" b="1" dirty="0" smtClean="0">
                <a:solidFill>
                  <a:srgbClr val="800000"/>
                </a:solidFill>
              </a:rPr>
              <a:t>Mega2</a:t>
            </a:r>
            <a:endParaRPr lang="en-US" sz="7200" b="1" dirty="0">
              <a:solidFill>
                <a:srgbClr val="8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09087" y="666499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800000"/>
                </a:solidFill>
              </a:rPr>
              <a:t>Region extraction diagram:</a:t>
            </a:r>
            <a:endParaRPr lang="en-US" sz="4800" b="1" dirty="0">
              <a:solidFill>
                <a:srgbClr val="800000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0617200" y="5464667"/>
            <a:ext cx="0" cy="306491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 rot="16200000">
            <a:off x="25187275" y="11756759"/>
            <a:ext cx="1028700" cy="857250"/>
            <a:chOff x="1314449" y="2428875"/>
            <a:chExt cx="1028700" cy="857250"/>
          </a:xfrm>
        </p:grpSpPr>
        <p:sp>
          <p:nvSpPr>
            <p:cNvPr id="38" name="Right Arrow 37"/>
            <p:cNvSpPr/>
            <p:nvPr/>
          </p:nvSpPr>
          <p:spPr>
            <a:xfrm rot="5400000">
              <a:off x="1400174" y="2343150"/>
              <a:ext cx="857250" cy="1028700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Right Arrow 4"/>
            <p:cNvSpPr/>
            <p:nvPr/>
          </p:nvSpPr>
          <p:spPr>
            <a:xfrm>
              <a:off x="1520190" y="2428875"/>
              <a:ext cx="617220" cy="6000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kern="1200"/>
            </a:p>
          </p:txBody>
        </p:sp>
      </p:grpSp>
      <p:pic>
        <p:nvPicPr>
          <p:cNvPr id="7" name="Picture 6" descr="static_qr_code_without_logo.jpg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" r="-1" b="-1"/>
          <a:stretch/>
        </p:blipFill>
        <p:spPr>
          <a:xfrm flipH="1">
            <a:off x="8105185" y="33354154"/>
            <a:ext cx="2286000" cy="2286000"/>
          </a:xfrm>
          <a:prstGeom prst="rect">
            <a:avLst/>
          </a:prstGeom>
        </p:spPr>
      </p:pic>
      <p:pic>
        <p:nvPicPr>
          <p:cNvPr id="12" name="Picture 11" descr="static_qr_code_without_logo 2.jpg"/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6357" y="33286862"/>
            <a:ext cx="2286000" cy="228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77509" y="34370462"/>
            <a:ext cx="20381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Mega2-</a:t>
            </a:r>
            <a:r>
              <a:rPr lang="en-US" sz="4000" dirty="0" smtClean="0"/>
              <a:t>&gt;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23207</TotalTime>
  <Words>537</Words>
  <Application>Microsoft Macintosh PowerPoint</Application>
  <PresentationFormat>Custom</PresentationFormat>
  <Paragraphs>84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University of Pittsburgh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Daniel Weeks</dc:creator>
  <cp:lastModifiedBy>Justin</cp:lastModifiedBy>
  <cp:revision>218</cp:revision>
  <cp:lastPrinted>2017-09-21T14:55:40Z</cp:lastPrinted>
  <dcterms:created xsi:type="dcterms:W3CDTF">2017-09-21T13:13:32Z</dcterms:created>
  <dcterms:modified xsi:type="dcterms:W3CDTF">2017-10-09T17:57:10Z</dcterms:modified>
</cp:coreProperties>
</file>