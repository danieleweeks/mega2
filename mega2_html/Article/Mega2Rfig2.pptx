
<file path=[Content_Types].xml><?xml version="1.0" encoding="utf-8"?>
<Types xmlns="http://schemas.openxmlformats.org/package/2006/content-types">
  <Override PartName="/docProps/core.xml" ContentType="application/vnd.openxmlformats-package.core-properties+xml"/>
  <Default Extension="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3.xml" ContentType="application/vnd.openxmlformats-officedocument.presentationml.slideLayout+xml"/>
  <Default Extension="xml" ContentType="application/xml"/>
  <Override PartName="/docProps/app.xml" ContentType="application/vnd.openxmlformats-officedocument.extended-properties+xml"/>
  <Override PartName="/ppt/slideMasters/slideMaster1.xml" ContentType="application/vnd.openxmlformats-officedocument.presentationml.slideMaster+xml"/>
  <Override PartName="/ppt/slideLayouts/slideLayout5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2.xml" ContentType="application/vnd.openxmlformats-officedocument.presentationml.slideLayout+xml"/>
  <Default Extension="bin" ContentType="application/vnd.openxmlformats-officedocument.presentationml.printerSettings"/>
  <Override PartName="/ppt/slides/slide1.xml" ContentType="application/vnd.openxmlformats-officedocument.presentationml.slide+xml"/>
  <Default Extension="jpeg" ContentType="image/jpeg"/>
  <Override PartName="/ppt/slideLayouts/slideLayout4.xml" ContentType="application/vnd.openxmlformats-officedocument.presentationml.slideLayout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saveSubsetFonts="1" autoCompressPictures="0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normalViewPr>
    <p:restoredLeft sz="15620"/>
    <p:restoredTop sz="94660"/>
  </p:normalViewPr>
  <p:slideViewPr>
    <p:cSldViewPr snapToGrid="0" snapToObjects="1">
      <p:cViewPr varScale="1">
        <p:scale>
          <a:sx n="142" d="100"/>
          <a:sy n="142" d="100"/>
        </p:scale>
        <p:origin x="-1488" y="-1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interSettings" Target="printerSettings/printerSettings1.bin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4F870-186A-EB4F-9838-041FBD4EA0A4}" type="datetimeFigureOut">
              <a:rPr lang="en-US" smtClean="0"/>
              <a:pPr/>
              <a:t>12/11/18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8C94-63A3-0649-BCA7-0C615ED8C30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4F870-186A-EB4F-9838-041FBD4EA0A4}" type="datetimeFigureOut">
              <a:rPr lang="en-US" smtClean="0"/>
              <a:pPr/>
              <a:t>12/11/18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8C94-63A3-0649-BCA7-0C615ED8C30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4F870-186A-EB4F-9838-041FBD4EA0A4}" type="datetimeFigureOut">
              <a:rPr lang="en-US" smtClean="0"/>
              <a:pPr/>
              <a:t>12/11/18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8C94-63A3-0649-BCA7-0C615ED8C30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4F870-186A-EB4F-9838-041FBD4EA0A4}" type="datetimeFigureOut">
              <a:rPr lang="en-US" smtClean="0"/>
              <a:pPr/>
              <a:t>12/11/18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8C94-63A3-0649-BCA7-0C615ED8C30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4F870-186A-EB4F-9838-041FBD4EA0A4}" type="datetimeFigureOut">
              <a:rPr lang="en-US" smtClean="0"/>
              <a:pPr/>
              <a:t>12/11/18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8C94-63A3-0649-BCA7-0C615ED8C30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4F870-186A-EB4F-9838-041FBD4EA0A4}" type="datetimeFigureOut">
              <a:rPr lang="en-US" smtClean="0"/>
              <a:pPr/>
              <a:t>12/11/18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8C94-63A3-0649-BCA7-0C615ED8C30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4F870-186A-EB4F-9838-041FBD4EA0A4}" type="datetimeFigureOut">
              <a:rPr lang="en-US" smtClean="0"/>
              <a:pPr/>
              <a:t>12/11/18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8C94-63A3-0649-BCA7-0C615ED8C30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4F870-186A-EB4F-9838-041FBD4EA0A4}" type="datetimeFigureOut">
              <a:rPr lang="en-US" smtClean="0"/>
              <a:pPr/>
              <a:t>12/11/18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8C94-63A3-0649-BCA7-0C615ED8C30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4F870-186A-EB4F-9838-041FBD4EA0A4}" type="datetimeFigureOut">
              <a:rPr lang="en-US" smtClean="0"/>
              <a:pPr/>
              <a:t>12/11/18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8C94-63A3-0649-BCA7-0C615ED8C30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4F870-186A-EB4F-9838-041FBD4EA0A4}" type="datetimeFigureOut">
              <a:rPr lang="en-US" smtClean="0"/>
              <a:pPr/>
              <a:t>12/11/18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8C94-63A3-0649-BCA7-0C615ED8C30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4F870-186A-EB4F-9838-041FBD4EA0A4}" type="datetimeFigureOut">
              <a:rPr lang="en-US" smtClean="0"/>
              <a:pPr/>
              <a:t>12/11/18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8C94-63A3-0649-BCA7-0C615ED8C300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E4F870-186A-EB4F-9838-041FBD4EA0A4}" type="datetimeFigureOut">
              <a:rPr lang="en-US" smtClean="0"/>
              <a:pPr/>
              <a:t>12/11/18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E08C94-63A3-0649-BCA7-0C615ED8C300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1445172" y="245417"/>
            <a:ext cx="1000234" cy="822960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algn="ctr"/>
            <a:r>
              <a:rPr lang="en-US" sz="1200" dirty="0" smtClean="0"/>
              <a:t>User defined regions</a:t>
            </a:r>
            <a:endParaRPr lang="en-US" sz="1200" dirty="0"/>
          </a:p>
        </p:txBody>
      </p:sp>
      <p:sp>
        <p:nvSpPr>
          <p:cNvPr id="5" name="Rounded Rectangle 4"/>
          <p:cNvSpPr/>
          <p:nvPr/>
        </p:nvSpPr>
        <p:spPr>
          <a:xfrm>
            <a:off x="1445172" y="1646796"/>
            <a:ext cx="989549" cy="822960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algn="ctr"/>
            <a:r>
              <a:rPr lang="en-US" sz="1200" dirty="0" smtClean="0"/>
              <a:t>Gene</a:t>
            </a:r>
          </a:p>
          <a:p>
            <a:pPr algn="ctr"/>
            <a:r>
              <a:rPr lang="en-US" sz="1200" dirty="0" smtClean="0"/>
              <a:t>boundaries</a:t>
            </a:r>
          </a:p>
          <a:p>
            <a:pPr algn="ctr"/>
            <a:r>
              <a:rPr lang="en-US" sz="1200" dirty="0" smtClean="0"/>
              <a:t>(</a:t>
            </a:r>
            <a:r>
              <a:rPr lang="en-US" sz="1200" dirty="0" err="1" smtClean="0"/>
              <a:t>bp</a:t>
            </a:r>
            <a:r>
              <a:rPr lang="en-US" sz="1200" dirty="0" smtClean="0"/>
              <a:t>)</a:t>
            </a:r>
            <a:endParaRPr lang="en-US" sz="1200" dirty="0"/>
          </a:p>
        </p:txBody>
      </p:sp>
      <p:sp>
        <p:nvSpPr>
          <p:cNvPr id="6" name="Rounded Rectangle 5"/>
          <p:cNvSpPr/>
          <p:nvPr/>
        </p:nvSpPr>
        <p:spPr>
          <a:xfrm>
            <a:off x="3004380" y="271692"/>
            <a:ext cx="1033343" cy="822960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algn="ctr"/>
            <a:r>
              <a:rPr lang="en-US" sz="1200" dirty="0" smtClean="0"/>
              <a:t>Loop over selected regions</a:t>
            </a:r>
            <a:endParaRPr lang="en-US" sz="1200" dirty="0"/>
          </a:p>
        </p:txBody>
      </p:sp>
      <p:sp>
        <p:nvSpPr>
          <p:cNvPr id="7" name="Rounded Rectangle 6"/>
          <p:cNvSpPr/>
          <p:nvPr/>
        </p:nvSpPr>
        <p:spPr>
          <a:xfrm>
            <a:off x="4537141" y="271692"/>
            <a:ext cx="1059618" cy="822960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sz="1200" dirty="0" smtClean="0"/>
              <a:t>Decompress genotypes</a:t>
            </a:r>
            <a:endParaRPr lang="en-US" sz="1200" dirty="0"/>
          </a:p>
        </p:txBody>
      </p:sp>
      <p:sp>
        <p:nvSpPr>
          <p:cNvPr id="8" name="Rounded Rectangle 7"/>
          <p:cNvSpPr/>
          <p:nvPr/>
        </p:nvSpPr>
        <p:spPr>
          <a:xfrm>
            <a:off x="3004381" y="1646796"/>
            <a:ext cx="1033342" cy="822960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sz="1200" dirty="0" smtClean="0"/>
              <a:t>Loop over some genes</a:t>
            </a:r>
            <a:endParaRPr lang="en-US" sz="1200" dirty="0"/>
          </a:p>
        </p:txBody>
      </p:sp>
      <p:sp>
        <p:nvSpPr>
          <p:cNvPr id="9" name="Rounded Rectangle 8"/>
          <p:cNvSpPr/>
          <p:nvPr/>
        </p:nvSpPr>
        <p:spPr>
          <a:xfrm>
            <a:off x="4589691" y="1655554"/>
            <a:ext cx="1007067" cy="822960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algn="ctr"/>
            <a:r>
              <a:rPr lang="en-US" sz="1200" dirty="0" smtClean="0"/>
              <a:t>Run R</a:t>
            </a:r>
          </a:p>
          <a:p>
            <a:pPr algn="ctr"/>
            <a:r>
              <a:rPr lang="en-US" sz="1200" dirty="0" smtClean="0"/>
              <a:t>package (</a:t>
            </a:r>
            <a:r>
              <a:rPr lang="en-US" sz="1200" dirty="0" err="1" smtClean="0"/>
              <a:t>eg</a:t>
            </a:r>
            <a:r>
              <a:rPr lang="en-US" sz="1200" dirty="0" smtClean="0"/>
              <a:t> </a:t>
            </a:r>
            <a:r>
              <a:rPr lang="en-US" sz="1200" dirty="0" err="1" smtClean="0"/>
              <a:t>pedgene</a:t>
            </a:r>
            <a:r>
              <a:rPr lang="en-US" sz="1200" dirty="0" smtClean="0"/>
              <a:t>)</a:t>
            </a:r>
            <a:endParaRPr lang="en-US" sz="1200" dirty="0"/>
          </a:p>
        </p:txBody>
      </p:sp>
      <p:sp>
        <p:nvSpPr>
          <p:cNvPr id="10" name="Rounded Rectangle 9"/>
          <p:cNvSpPr/>
          <p:nvPr/>
        </p:nvSpPr>
        <p:spPr>
          <a:xfrm>
            <a:off x="3004381" y="3109486"/>
            <a:ext cx="1033342" cy="822960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sz="1200" dirty="0" smtClean="0"/>
              <a:t>Loop over all genes</a:t>
            </a:r>
            <a:endParaRPr lang="en-US" sz="1200" dirty="0"/>
          </a:p>
        </p:txBody>
      </p:sp>
      <p:sp>
        <p:nvSpPr>
          <p:cNvPr id="11" name="Rounded Rectangle 10"/>
          <p:cNvSpPr/>
          <p:nvPr/>
        </p:nvSpPr>
        <p:spPr>
          <a:xfrm>
            <a:off x="4633485" y="3109486"/>
            <a:ext cx="963274" cy="822960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t"/>
          <a:lstStyle/>
          <a:p>
            <a:pPr algn="ctr"/>
            <a:endParaRPr lang="en-US" sz="1200" dirty="0" smtClean="0"/>
          </a:p>
          <a:p>
            <a:pPr algn="ctr"/>
            <a:r>
              <a:rPr lang="en-US" sz="1200" dirty="0" smtClean="0"/>
              <a:t>Result </a:t>
            </a:r>
            <a:r>
              <a:rPr lang="en-US" dirty="0" err="1" smtClean="0"/>
              <a:t>i</a:t>
            </a:r>
            <a:endParaRPr lang="en-US" dirty="0"/>
          </a:p>
        </p:txBody>
      </p:sp>
      <p:sp>
        <p:nvSpPr>
          <p:cNvPr id="17" name="Right Arrow 16"/>
          <p:cNvSpPr>
            <a:spLocks noChangeAspect="1"/>
          </p:cNvSpPr>
          <p:nvPr/>
        </p:nvSpPr>
        <p:spPr>
          <a:xfrm>
            <a:off x="2584029" y="525753"/>
            <a:ext cx="271577" cy="271577"/>
          </a:xfrm>
          <a:prstGeom prst="rightArrow">
            <a:avLst/>
          </a:prstGeom>
          <a:gradFill>
            <a:gsLst>
              <a:gs pos="47000">
                <a:schemeClr val="accent1">
                  <a:tint val="100000"/>
                  <a:shade val="100000"/>
                  <a:satMod val="130000"/>
                  <a:alpha val="47000"/>
                </a:schemeClr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</a:gradFill>
          <a:ln>
            <a:solidFill>
              <a:schemeClr val="accent1">
                <a:shade val="95000"/>
                <a:satMod val="105000"/>
                <a:alpha val="49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9" name="Right Arrow 18"/>
          <p:cNvSpPr>
            <a:spLocks noChangeAspect="1"/>
          </p:cNvSpPr>
          <p:nvPr/>
        </p:nvSpPr>
        <p:spPr>
          <a:xfrm>
            <a:off x="4173511" y="547383"/>
            <a:ext cx="271577" cy="271577"/>
          </a:xfrm>
          <a:prstGeom prst="rightArrow">
            <a:avLst/>
          </a:prstGeom>
          <a:gradFill>
            <a:gsLst>
              <a:gs pos="47000">
                <a:schemeClr val="accent1">
                  <a:tint val="100000"/>
                  <a:shade val="100000"/>
                  <a:satMod val="130000"/>
                  <a:alpha val="47000"/>
                </a:schemeClr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</a:gradFill>
          <a:ln>
            <a:solidFill>
              <a:schemeClr val="accent1">
                <a:shade val="95000"/>
                <a:satMod val="105000"/>
                <a:alpha val="49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" name="Right Arrow 19"/>
          <p:cNvSpPr>
            <a:spLocks noChangeAspect="1"/>
          </p:cNvSpPr>
          <p:nvPr/>
        </p:nvSpPr>
        <p:spPr>
          <a:xfrm>
            <a:off x="2600640" y="1970021"/>
            <a:ext cx="271577" cy="271577"/>
          </a:xfrm>
          <a:prstGeom prst="rightArrow">
            <a:avLst/>
          </a:prstGeom>
          <a:gradFill>
            <a:gsLst>
              <a:gs pos="47000">
                <a:schemeClr val="accent1">
                  <a:tint val="100000"/>
                  <a:shade val="100000"/>
                  <a:satMod val="130000"/>
                  <a:alpha val="47000"/>
                </a:schemeClr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</a:gradFill>
          <a:ln>
            <a:solidFill>
              <a:schemeClr val="accent1">
                <a:shade val="95000"/>
                <a:satMod val="105000"/>
                <a:alpha val="49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1" name="Right Arrow 20"/>
          <p:cNvSpPr>
            <a:spLocks noChangeAspect="1"/>
          </p:cNvSpPr>
          <p:nvPr/>
        </p:nvSpPr>
        <p:spPr>
          <a:xfrm rot="5400000">
            <a:off x="4908271" y="1255926"/>
            <a:ext cx="271577" cy="271577"/>
          </a:xfrm>
          <a:prstGeom prst="rightArrow">
            <a:avLst/>
          </a:prstGeom>
          <a:gradFill>
            <a:gsLst>
              <a:gs pos="47000">
                <a:schemeClr val="accent1">
                  <a:tint val="100000"/>
                  <a:shade val="100000"/>
                  <a:satMod val="130000"/>
                  <a:alpha val="47000"/>
                </a:schemeClr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</a:gradFill>
          <a:ln>
            <a:solidFill>
              <a:schemeClr val="accent1">
                <a:shade val="95000"/>
                <a:satMod val="105000"/>
                <a:alpha val="49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2" name="Right Arrow 21"/>
          <p:cNvSpPr>
            <a:spLocks noChangeAspect="1"/>
          </p:cNvSpPr>
          <p:nvPr/>
        </p:nvSpPr>
        <p:spPr>
          <a:xfrm rot="5400000">
            <a:off x="4908271" y="2683582"/>
            <a:ext cx="271577" cy="271577"/>
          </a:xfrm>
          <a:prstGeom prst="rightArrow">
            <a:avLst/>
          </a:prstGeom>
          <a:gradFill>
            <a:gsLst>
              <a:gs pos="47000">
                <a:schemeClr val="accent1">
                  <a:tint val="100000"/>
                  <a:shade val="100000"/>
                  <a:satMod val="130000"/>
                  <a:alpha val="47000"/>
                </a:schemeClr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</a:gradFill>
          <a:ln>
            <a:solidFill>
              <a:schemeClr val="accent1">
                <a:shade val="95000"/>
                <a:satMod val="105000"/>
                <a:alpha val="49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3" name="Right Arrow 22"/>
          <p:cNvSpPr>
            <a:spLocks noChangeAspect="1"/>
          </p:cNvSpPr>
          <p:nvPr/>
        </p:nvSpPr>
        <p:spPr>
          <a:xfrm rot="5400000">
            <a:off x="3424621" y="2700193"/>
            <a:ext cx="271577" cy="271577"/>
          </a:xfrm>
          <a:prstGeom prst="rightArrow">
            <a:avLst/>
          </a:prstGeom>
          <a:gradFill>
            <a:gsLst>
              <a:gs pos="47000">
                <a:schemeClr val="accent1">
                  <a:tint val="100000"/>
                  <a:shade val="100000"/>
                  <a:satMod val="130000"/>
                  <a:alpha val="47000"/>
                </a:schemeClr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</a:gradFill>
          <a:ln>
            <a:solidFill>
              <a:schemeClr val="accent1">
                <a:shade val="95000"/>
                <a:satMod val="105000"/>
                <a:alpha val="49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4" name="Right Arrow 23"/>
          <p:cNvSpPr>
            <a:spLocks noChangeAspect="1"/>
          </p:cNvSpPr>
          <p:nvPr/>
        </p:nvSpPr>
        <p:spPr>
          <a:xfrm rot="18900000">
            <a:off x="4173511" y="1511007"/>
            <a:ext cx="271577" cy="271577"/>
          </a:xfrm>
          <a:prstGeom prst="rightArrow">
            <a:avLst/>
          </a:prstGeom>
          <a:gradFill>
            <a:gsLst>
              <a:gs pos="47000">
                <a:schemeClr val="accent1">
                  <a:tint val="100000"/>
                  <a:shade val="100000"/>
                  <a:satMod val="130000"/>
                  <a:alpha val="47000"/>
                </a:schemeClr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</a:gradFill>
          <a:ln>
            <a:solidFill>
              <a:schemeClr val="accent1">
                <a:shade val="95000"/>
                <a:satMod val="105000"/>
                <a:alpha val="49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6" name="Magnetic Disk 25"/>
          <p:cNvSpPr/>
          <p:nvPr/>
        </p:nvSpPr>
        <p:spPr>
          <a:xfrm>
            <a:off x="1488090" y="3109486"/>
            <a:ext cx="1000234" cy="822960"/>
          </a:xfrm>
          <a:prstGeom prst="flowChartMagneticDisk">
            <a:avLst/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sz="1200" dirty="0" smtClean="0"/>
              <a:t>Reference</a:t>
            </a:r>
          </a:p>
          <a:p>
            <a:pPr algn="ctr"/>
            <a:r>
              <a:rPr lang="en-US" sz="1200" dirty="0" smtClean="0"/>
              <a:t>Database</a:t>
            </a:r>
            <a:endParaRPr lang="en-US" sz="1200" dirty="0"/>
          </a:p>
        </p:txBody>
      </p:sp>
      <p:sp>
        <p:nvSpPr>
          <p:cNvPr id="28" name="Right Arrow 27"/>
          <p:cNvSpPr>
            <a:spLocks noChangeAspect="1"/>
          </p:cNvSpPr>
          <p:nvPr/>
        </p:nvSpPr>
        <p:spPr>
          <a:xfrm rot="16200000">
            <a:off x="1852418" y="2683581"/>
            <a:ext cx="271577" cy="271577"/>
          </a:xfrm>
          <a:prstGeom prst="rightArrow">
            <a:avLst/>
          </a:prstGeom>
          <a:gradFill>
            <a:gsLst>
              <a:gs pos="47000">
                <a:schemeClr val="accent1">
                  <a:tint val="100000"/>
                  <a:shade val="100000"/>
                  <a:satMod val="130000"/>
                  <a:alpha val="47000"/>
                </a:schemeClr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</a:gradFill>
          <a:ln>
            <a:solidFill>
              <a:schemeClr val="accent1">
                <a:shade val="95000"/>
                <a:satMod val="105000"/>
                <a:alpha val="49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9" name="TextBox 28"/>
          <p:cNvSpPr txBox="1"/>
          <p:nvPr/>
        </p:nvSpPr>
        <p:spPr>
          <a:xfrm>
            <a:off x="1488090" y="4230414"/>
            <a:ext cx="2086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Iteration </a:t>
            </a:r>
            <a:r>
              <a:rPr lang="en-US" dirty="0" smtClean="0"/>
              <a:t>wrapper.</a:t>
            </a:r>
            <a:endParaRPr lang="en-US" dirty="0"/>
          </a:p>
        </p:txBody>
      </p:sp>
      <p:sp>
        <p:nvSpPr>
          <p:cNvPr id="30" name="TextBox 29"/>
          <p:cNvSpPr txBox="1"/>
          <p:nvPr/>
        </p:nvSpPr>
        <p:spPr>
          <a:xfrm>
            <a:off x="1488089" y="4599746"/>
            <a:ext cx="64384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Extensive efficient flexible wrapper to iterate through gene regions.</a:t>
            </a:r>
          </a:p>
          <a:p>
            <a:r>
              <a:rPr lang="en-US" dirty="0" smtClean="0"/>
              <a:t>This wrapper can run R functions, which analyze only a single region at a time, on multiple genes.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67</Words>
  <Application>Microsoft Macintosh PowerPoint</Application>
  <PresentationFormat>On-screen Show (4:3)</PresentationFormat>
  <Paragraphs>17</Paragraphs>
  <Slides>1</Slides>
  <Notes>0</Notes>
  <HiddenSlides>0</HiddenSlides>
  <MMClips>0</MMClips>
  <ScaleCrop>false</ScaleCrop>
  <HeadingPairs>
    <vt:vector size="4" baseType="variant">
      <vt:variant>
        <vt:lpstr>Design Template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Slide 1</vt:lpstr>
    </vt:vector>
  </TitlesOfParts>
  <Company>University of Pittsburgh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Robert V. Baron</dc:creator>
  <cp:lastModifiedBy>Robert V. Baron</cp:lastModifiedBy>
  <cp:revision>3</cp:revision>
  <dcterms:created xsi:type="dcterms:W3CDTF">2018-12-11T19:55:28Z</dcterms:created>
  <dcterms:modified xsi:type="dcterms:W3CDTF">2018-12-11T19:57:51Z</dcterms:modified>
</cp:coreProperties>
</file>