
<file path=[Content_Types].xml><?xml version="1.0" encoding="utf-8"?>
<Types xmlns="http://schemas.openxmlformats.org/package/2006/content-types">
  <Override PartName="/docProps/core.xml" ContentType="application/vnd.openxmlformats-package.core-properties+xml"/>
  <Default Extension="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Default Extension="xml" ContentType="application/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Default Extension="bin" ContentType="application/vnd.openxmlformats-officedocument.presentationml.printerSettings"/>
  <Override PartName="/ppt/slides/slide1.xml" ContentType="application/vnd.openxmlformats-officedocument.presentationml.slide+xml"/>
  <Default Extension="jpeg" ContentType="image/jpeg"/>
  <Override PartName="/ppt/slideLayouts/slideLayout4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48" r:id="rId1"/>
  </p:sldMasterIdLst>
  <p:sldIdLst>
    <p:sldId id="256" r:id="rId2"/>
  </p:sldIdLst>
  <p:sldSz cx="3657600" cy="3657600"/>
  <p:notesSz cx="6858000" cy="9144000"/>
  <p:defaultTextStyle>
    <a:defPPr>
      <a:defRPr lang="en-US"/>
    </a:defPPr>
    <a:lvl1pPr marL="0" algn="l" defTabSz="208986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1pPr>
    <a:lvl2pPr marL="208986" algn="l" defTabSz="208986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2pPr>
    <a:lvl3pPr marL="417972" algn="l" defTabSz="208986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3pPr>
    <a:lvl4pPr marL="626958" algn="l" defTabSz="208986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4pPr>
    <a:lvl5pPr marL="835944" algn="l" defTabSz="208986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5pPr>
    <a:lvl6pPr marL="1044931" algn="l" defTabSz="208986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6pPr>
    <a:lvl7pPr marL="1253917" algn="l" defTabSz="208986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7pPr>
    <a:lvl8pPr marL="1462903" algn="l" defTabSz="208986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8pPr>
    <a:lvl9pPr marL="1671889" algn="l" defTabSz="208986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prnPr hiddenSlides="1" scaleToFitPaper="1"/>
  <p:extLst>
    <p:ext uri="{E76CE94A-603C-4142-B9EB-6D1370010A27}">
      <p14:discardImageEditData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0"/>
    </p:ext>
    <p:ext uri="{D31A062A-798A-4329-ABDD-BBA856620510}">
      <p14:defaultImageDpi xmlns:p14="http://schemas.microsoft.com/office/powerpoint/2010/main" xmlns:p="http://schemas.openxmlformats.org/presentationml/2006/main" xmlns:r="http://schemas.openxmlformats.org/officeDocument/2006/relationships" xmlns:a="http://schemas.openxmlformats.org/drawingml/2006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-4232" y="-1440"/>
      </p:cViewPr>
      <p:guideLst>
        <p:guide orient="horz" pos="1152"/>
        <p:guide pos="115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" y="1136227"/>
            <a:ext cx="3108960" cy="78401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072640"/>
            <a:ext cx="2560320" cy="9347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089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17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269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35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449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53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62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718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4F870-186A-EB4F-9838-041FBD4EA0A4}" type="datetimeFigureOut">
              <a:rPr lang="en-US" smtClean="0"/>
              <a:pPr/>
              <a:t>1/22/19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8C94-63A3-0649-BCA7-0C615ED8C3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4F870-186A-EB4F-9838-041FBD4EA0A4}" type="datetimeFigureOut">
              <a:rPr lang="en-US" smtClean="0"/>
              <a:pPr/>
              <a:t>1/22/19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8C94-63A3-0649-BCA7-0C615ED8C3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925" y="2350347"/>
            <a:ext cx="3108960" cy="726440"/>
          </a:xfrm>
        </p:spPr>
        <p:txBody>
          <a:bodyPr anchor="t"/>
          <a:lstStyle>
            <a:lvl1pPr algn="l">
              <a:defRPr sz="1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8925" y="1550247"/>
            <a:ext cx="3108960" cy="800100"/>
          </a:xfrm>
        </p:spPr>
        <p:txBody>
          <a:bodyPr anchor="b"/>
          <a:lstStyle>
            <a:lvl1pPr marL="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  <a:lvl2pPr marL="208986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2pPr>
            <a:lvl3pPr marL="417972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3pPr>
            <a:lvl4pPr marL="626958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4pPr>
            <a:lvl5pPr marL="835944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5pPr>
            <a:lvl6pPr marL="1044931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6pPr>
            <a:lvl7pPr marL="1253917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7pPr>
            <a:lvl8pPr marL="1462903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8pPr>
            <a:lvl9pPr marL="1671889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4F870-186A-EB4F-9838-041FBD4EA0A4}" type="datetimeFigureOut">
              <a:rPr lang="en-US" smtClean="0"/>
              <a:pPr/>
              <a:t>1/22/19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8C94-63A3-0649-BCA7-0C615ED8C3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2880" y="853440"/>
            <a:ext cx="1615440" cy="2413847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9280" y="853440"/>
            <a:ext cx="1615440" cy="2413847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4F870-186A-EB4F-9838-041FBD4EA0A4}" type="datetimeFigureOut">
              <a:rPr lang="en-US" smtClean="0"/>
              <a:pPr/>
              <a:t>1/22/19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8C94-63A3-0649-BCA7-0C615ED8C3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" y="818727"/>
            <a:ext cx="1616075" cy="341206"/>
          </a:xfrm>
        </p:spPr>
        <p:txBody>
          <a:bodyPr anchor="b"/>
          <a:lstStyle>
            <a:lvl1pPr marL="0" indent="0">
              <a:buNone/>
              <a:defRPr sz="1100" b="1"/>
            </a:lvl1pPr>
            <a:lvl2pPr marL="208986" indent="0">
              <a:buNone/>
              <a:defRPr sz="900" b="1"/>
            </a:lvl2pPr>
            <a:lvl3pPr marL="417972" indent="0">
              <a:buNone/>
              <a:defRPr sz="800" b="1"/>
            </a:lvl3pPr>
            <a:lvl4pPr marL="626958" indent="0">
              <a:buNone/>
              <a:defRPr sz="700" b="1"/>
            </a:lvl4pPr>
            <a:lvl5pPr marL="835944" indent="0">
              <a:buNone/>
              <a:defRPr sz="700" b="1"/>
            </a:lvl5pPr>
            <a:lvl6pPr marL="1044931" indent="0">
              <a:buNone/>
              <a:defRPr sz="700" b="1"/>
            </a:lvl6pPr>
            <a:lvl7pPr marL="1253917" indent="0">
              <a:buNone/>
              <a:defRPr sz="700" b="1"/>
            </a:lvl7pPr>
            <a:lvl8pPr marL="1462903" indent="0">
              <a:buNone/>
              <a:defRPr sz="700" b="1"/>
            </a:lvl8pPr>
            <a:lvl9pPr marL="1671889" indent="0">
              <a:buNone/>
              <a:defRPr sz="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880" y="1159933"/>
            <a:ext cx="1616075" cy="2107354"/>
          </a:xfrm>
        </p:spPr>
        <p:txBody>
          <a:bodyPr/>
          <a:lstStyle>
            <a:lvl1pPr>
              <a:defRPr sz="1100"/>
            </a:lvl1pPr>
            <a:lvl2pPr>
              <a:defRPr sz="900"/>
            </a:lvl2pPr>
            <a:lvl3pPr>
              <a:defRPr sz="800"/>
            </a:lvl3pPr>
            <a:lvl4pPr>
              <a:defRPr sz="700"/>
            </a:lvl4pPr>
            <a:lvl5pPr>
              <a:defRPr sz="700"/>
            </a:lvl5pPr>
            <a:lvl6pPr>
              <a:defRPr sz="700"/>
            </a:lvl6pPr>
            <a:lvl7pPr>
              <a:defRPr sz="700"/>
            </a:lvl7pPr>
            <a:lvl8pPr>
              <a:defRPr sz="700"/>
            </a:lvl8pPr>
            <a:lvl9pPr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8010" y="818727"/>
            <a:ext cx="1616710" cy="341206"/>
          </a:xfrm>
        </p:spPr>
        <p:txBody>
          <a:bodyPr anchor="b"/>
          <a:lstStyle>
            <a:lvl1pPr marL="0" indent="0">
              <a:buNone/>
              <a:defRPr sz="1100" b="1"/>
            </a:lvl1pPr>
            <a:lvl2pPr marL="208986" indent="0">
              <a:buNone/>
              <a:defRPr sz="900" b="1"/>
            </a:lvl2pPr>
            <a:lvl3pPr marL="417972" indent="0">
              <a:buNone/>
              <a:defRPr sz="800" b="1"/>
            </a:lvl3pPr>
            <a:lvl4pPr marL="626958" indent="0">
              <a:buNone/>
              <a:defRPr sz="700" b="1"/>
            </a:lvl4pPr>
            <a:lvl5pPr marL="835944" indent="0">
              <a:buNone/>
              <a:defRPr sz="700" b="1"/>
            </a:lvl5pPr>
            <a:lvl6pPr marL="1044931" indent="0">
              <a:buNone/>
              <a:defRPr sz="700" b="1"/>
            </a:lvl6pPr>
            <a:lvl7pPr marL="1253917" indent="0">
              <a:buNone/>
              <a:defRPr sz="700" b="1"/>
            </a:lvl7pPr>
            <a:lvl8pPr marL="1462903" indent="0">
              <a:buNone/>
              <a:defRPr sz="700" b="1"/>
            </a:lvl8pPr>
            <a:lvl9pPr marL="1671889" indent="0">
              <a:buNone/>
              <a:defRPr sz="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8010" y="1159933"/>
            <a:ext cx="1616710" cy="2107354"/>
          </a:xfrm>
        </p:spPr>
        <p:txBody>
          <a:bodyPr/>
          <a:lstStyle>
            <a:lvl1pPr>
              <a:defRPr sz="1100"/>
            </a:lvl1pPr>
            <a:lvl2pPr>
              <a:defRPr sz="900"/>
            </a:lvl2pPr>
            <a:lvl3pPr>
              <a:defRPr sz="800"/>
            </a:lvl3pPr>
            <a:lvl4pPr>
              <a:defRPr sz="700"/>
            </a:lvl4pPr>
            <a:lvl5pPr>
              <a:defRPr sz="700"/>
            </a:lvl5pPr>
            <a:lvl6pPr>
              <a:defRPr sz="700"/>
            </a:lvl6pPr>
            <a:lvl7pPr>
              <a:defRPr sz="700"/>
            </a:lvl7pPr>
            <a:lvl8pPr>
              <a:defRPr sz="700"/>
            </a:lvl8pPr>
            <a:lvl9pPr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4F870-186A-EB4F-9838-041FBD4EA0A4}" type="datetimeFigureOut">
              <a:rPr lang="en-US" smtClean="0"/>
              <a:pPr/>
              <a:t>1/22/19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8C94-63A3-0649-BCA7-0C615ED8C3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4F870-186A-EB4F-9838-041FBD4EA0A4}" type="datetimeFigureOut">
              <a:rPr lang="en-US" smtClean="0"/>
              <a:pPr/>
              <a:t>1/22/19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8C94-63A3-0649-BCA7-0C615ED8C3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4F870-186A-EB4F-9838-041FBD4EA0A4}" type="datetimeFigureOut">
              <a:rPr lang="en-US" smtClean="0"/>
              <a:pPr/>
              <a:t>1/22/19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8C94-63A3-0649-BCA7-0C615ED8C3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45627"/>
            <a:ext cx="1203325" cy="619760"/>
          </a:xfrm>
        </p:spPr>
        <p:txBody>
          <a:bodyPr anchor="b"/>
          <a:lstStyle>
            <a:lvl1pPr algn="l">
              <a:defRPr sz="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0020" y="145627"/>
            <a:ext cx="2044700" cy="3121660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" y="765387"/>
            <a:ext cx="1203325" cy="2501900"/>
          </a:xfrm>
        </p:spPr>
        <p:txBody>
          <a:bodyPr/>
          <a:lstStyle>
            <a:lvl1pPr marL="0" indent="0">
              <a:buNone/>
              <a:defRPr sz="600"/>
            </a:lvl1pPr>
            <a:lvl2pPr marL="208986" indent="0">
              <a:buNone/>
              <a:defRPr sz="500"/>
            </a:lvl2pPr>
            <a:lvl3pPr marL="417972" indent="0">
              <a:buNone/>
              <a:defRPr sz="500"/>
            </a:lvl3pPr>
            <a:lvl4pPr marL="626958" indent="0">
              <a:buNone/>
              <a:defRPr sz="400"/>
            </a:lvl4pPr>
            <a:lvl5pPr marL="835944" indent="0">
              <a:buNone/>
              <a:defRPr sz="400"/>
            </a:lvl5pPr>
            <a:lvl6pPr marL="1044931" indent="0">
              <a:buNone/>
              <a:defRPr sz="400"/>
            </a:lvl6pPr>
            <a:lvl7pPr marL="1253917" indent="0">
              <a:buNone/>
              <a:defRPr sz="400"/>
            </a:lvl7pPr>
            <a:lvl8pPr marL="1462903" indent="0">
              <a:buNone/>
              <a:defRPr sz="400"/>
            </a:lvl8pPr>
            <a:lvl9pPr marL="1671889" indent="0">
              <a:buNone/>
              <a:defRPr sz="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4F870-186A-EB4F-9838-041FBD4EA0A4}" type="datetimeFigureOut">
              <a:rPr lang="en-US" smtClean="0"/>
              <a:pPr/>
              <a:t>1/22/19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8C94-63A3-0649-BCA7-0C615ED8C3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915" y="2560320"/>
            <a:ext cx="2194560" cy="302260"/>
          </a:xfrm>
        </p:spPr>
        <p:txBody>
          <a:bodyPr anchor="b"/>
          <a:lstStyle>
            <a:lvl1pPr algn="l">
              <a:defRPr sz="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16915" y="326813"/>
            <a:ext cx="2194560" cy="2194560"/>
          </a:xfrm>
        </p:spPr>
        <p:txBody>
          <a:bodyPr/>
          <a:lstStyle>
            <a:lvl1pPr marL="0" indent="0">
              <a:buNone/>
              <a:defRPr sz="1500"/>
            </a:lvl1pPr>
            <a:lvl2pPr marL="208986" indent="0">
              <a:buNone/>
              <a:defRPr sz="1300"/>
            </a:lvl2pPr>
            <a:lvl3pPr marL="417972" indent="0">
              <a:buNone/>
              <a:defRPr sz="1100"/>
            </a:lvl3pPr>
            <a:lvl4pPr marL="626958" indent="0">
              <a:buNone/>
              <a:defRPr sz="900"/>
            </a:lvl4pPr>
            <a:lvl5pPr marL="835944" indent="0">
              <a:buNone/>
              <a:defRPr sz="900"/>
            </a:lvl5pPr>
            <a:lvl6pPr marL="1044931" indent="0">
              <a:buNone/>
              <a:defRPr sz="900"/>
            </a:lvl6pPr>
            <a:lvl7pPr marL="1253917" indent="0">
              <a:buNone/>
              <a:defRPr sz="900"/>
            </a:lvl7pPr>
            <a:lvl8pPr marL="1462903" indent="0">
              <a:buNone/>
              <a:defRPr sz="900"/>
            </a:lvl8pPr>
            <a:lvl9pPr marL="1671889" indent="0">
              <a:buNone/>
              <a:defRPr sz="9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915" y="2862580"/>
            <a:ext cx="2194560" cy="429260"/>
          </a:xfrm>
        </p:spPr>
        <p:txBody>
          <a:bodyPr/>
          <a:lstStyle>
            <a:lvl1pPr marL="0" indent="0">
              <a:buNone/>
              <a:defRPr sz="600"/>
            </a:lvl1pPr>
            <a:lvl2pPr marL="208986" indent="0">
              <a:buNone/>
              <a:defRPr sz="500"/>
            </a:lvl2pPr>
            <a:lvl3pPr marL="417972" indent="0">
              <a:buNone/>
              <a:defRPr sz="500"/>
            </a:lvl3pPr>
            <a:lvl4pPr marL="626958" indent="0">
              <a:buNone/>
              <a:defRPr sz="400"/>
            </a:lvl4pPr>
            <a:lvl5pPr marL="835944" indent="0">
              <a:buNone/>
              <a:defRPr sz="400"/>
            </a:lvl5pPr>
            <a:lvl6pPr marL="1044931" indent="0">
              <a:buNone/>
              <a:defRPr sz="400"/>
            </a:lvl6pPr>
            <a:lvl7pPr marL="1253917" indent="0">
              <a:buNone/>
              <a:defRPr sz="400"/>
            </a:lvl7pPr>
            <a:lvl8pPr marL="1462903" indent="0">
              <a:buNone/>
              <a:defRPr sz="400"/>
            </a:lvl8pPr>
            <a:lvl9pPr marL="1671889" indent="0">
              <a:buNone/>
              <a:defRPr sz="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4F870-186A-EB4F-9838-041FBD4EA0A4}" type="datetimeFigureOut">
              <a:rPr lang="en-US" smtClean="0"/>
              <a:pPr/>
              <a:t>1/22/19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8C94-63A3-0649-BCA7-0C615ED8C3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4F870-186A-EB4F-9838-041FBD4EA0A4}" type="datetimeFigureOut">
              <a:rPr lang="en-US" smtClean="0"/>
              <a:pPr/>
              <a:t>1/22/19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8C94-63A3-0649-BCA7-0C615ED8C3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51760" y="146474"/>
            <a:ext cx="822960" cy="31208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2880" y="146474"/>
            <a:ext cx="2407920" cy="31208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4F870-186A-EB4F-9838-041FBD4EA0A4}" type="datetimeFigureOut">
              <a:rPr lang="en-US" smtClean="0"/>
              <a:pPr/>
              <a:t>1/22/19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8C94-63A3-0649-BCA7-0C615ED8C3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2880" y="146474"/>
            <a:ext cx="3291840" cy="609600"/>
          </a:xfrm>
          <a:prstGeom prst="rect">
            <a:avLst/>
          </a:prstGeom>
        </p:spPr>
        <p:txBody>
          <a:bodyPr vert="horz" lIns="41797" tIns="20899" rIns="41797" bIns="2089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" y="853440"/>
            <a:ext cx="3291840" cy="2413847"/>
          </a:xfrm>
          <a:prstGeom prst="rect">
            <a:avLst/>
          </a:prstGeom>
        </p:spPr>
        <p:txBody>
          <a:bodyPr vert="horz" lIns="41797" tIns="20899" rIns="41797" bIns="2089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2880" y="3390054"/>
            <a:ext cx="853440" cy="194733"/>
          </a:xfrm>
          <a:prstGeom prst="rect">
            <a:avLst/>
          </a:prstGeom>
        </p:spPr>
        <p:txBody>
          <a:bodyPr vert="horz" lIns="41797" tIns="20899" rIns="41797" bIns="20899" rtlCol="0" anchor="ctr"/>
          <a:lstStyle>
            <a:lvl1pPr algn="l">
              <a:defRPr sz="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E4F870-186A-EB4F-9838-041FBD4EA0A4}" type="datetimeFigureOut">
              <a:rPr lang="en-US" smtClean="0"/>
              <a:pPr/>
              <a:t>1/22/19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49680" y="3390054"/>
            <a:ext cx="1158240" cy="194733"/>
          </a:xfrm>
          <a:prstGeom prst="rect">
            <a:avLst/>
          </a:prstGeom>
        </p:spPr>
        <p:txBody>
          <a:bodyPr vert="horz" lIns="41797" tIns="20899" rIns="41797" bIns="20899" rtlCol="0" anchor="ctr"/>
          <a:lstStyle>
            <a:lvl1pPr algn="ctr">
              <a:defRPr sz="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621280" y="3390054"/>
            <a:ext cx="853440" cy="194733"/>
          </a:xfrm>
          <a:prstGeom prst="rect">
            <a:avLst/>
          </a:prstGeom>
        </p:spPr>
        <p:txBody>
          <a:bodyPr vert="horz" lIns="41797" tIns="20899" rIns="41797" bIns="20899" rtlCol="0" anchor="ctr"/>
          <a:lstStyle>
            <a:lvl1pPr algn="r">
              <a:defRPr sz="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E08C94-63A3-0649-BCA7-0C615ED8C30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08986" rtl="0" eaLnBrk="1" latinLnBrk="0" hangingPunct="1"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6740" indent="-156740" algn="l" defTabSz="208986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39602" indent="-130616" algn="l" defTabSz="208986" rtl="0" eaLnBrk="1" latinLnBrk="0" hangingPunct="1">
        <a:spcBef>
          <a:spcPct val="20000"/>
        </a:spcBef>
        <a:buFont typeface="Arial"/>
        <a:buChar char="–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22465" indent="-104493" algn="l" defTabSz="208986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31451" indent="-104493" algn="l" defTabSz="208986" rtl="0" eaLnBrk="1" latinLnBrk="0" hangingPunct="1">
        <a:spcBef>
          <a:spcPct val="20000"/>
        </a:spcBef>
        <a:buFont typeface="Arial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40438" indent="-104493" algn="l" defTabSz="208986" rtl="0" eaLnBrk="1" latinLnBrk="0" hangingPunct="1">
        <a:spcBef>
          <a:spcPct val="20000"/>
        </a:spcBef>
        <a:buFont typeface="Arial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9424" indent="-104493" algn="l" defTabSz="208986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58410" indent="-104493" algn="l" defTabSz="208986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567396" indent="-104493" algn="l" defTabSz="208986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776382" indent="-104493" algn="l" defTabSz="208986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898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1pPr>
      <a:lvl2pPr marL="208986" algn="l" defTabSz="20898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417972" algn="l" defTabSz="20898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26958" algn="l" defTabSz="20898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835944" algn="l" defTabSz="20898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1044931" algn="l" defTabSz="20898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1253917" algn="l" defTabSz="20898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1462903" algn="l" defTabSz="20898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1671889" algn="l" defTabSz="208986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93032" y="22538"/>
            <a:ext cx="562607" cy="62376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797" tIns="20899" rIns="41797" bIns="20899"/>
          <a:lstStyle/>
          <a:p>
            <a:r>
              <a:rPr lang="en-US" dirty="0" err="1" smtClean="0"/>
              <a:t>Locus_tbl</a:t>
            </a:r>
            <a:endParaRPr lang="en-US" dirty="0" smtClean="0"/>
          </a:p>
          <a:p>
            <a:r>
              <a:rPr lang="en-US" dirty="0" smtClean="0"/>
              <a:t>  name</a:t>
            </a:r>
          </a:p>
          <a:p>
            <a:r>
              <a:rPr lang="en-US" dirty="0" smtClean="0"/>
              <a:t>  type</a:t>
            </a:r>
          </a:p>
          <a:p>
            <a:r>
              <a:rPr lang="en-US" dirty="0" smtClean="0"/>
              <a:t>  index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197233" y="897853"/>
            <a:ext cx="601266" cy="627643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797" tIns="20899" rIns="41797" bIns="20899"/>
          <a:lstStyle/>
          <a:p>
            <a:r>
              <a:rPr lang="en-US" dirty="0" err="1" smtClean="0"/>
              <a:t>Range_tbl</a:t>
            </a:r>
            <a:endParaRPr lang="en-US" dirty="0" smtClean="0"/>
          </a:p>
          <a:p>
            <a:r>
              <a:rPr lang="en-US" dirty="0" smtClean="0"/>
              <a:t>  name</a:t>
            </a:r>
          </a:p>
          <a:p>
            <a:r>
              <a:rPr lang="en-US" dirty="0" smtClean="0"/>
              <a:t>  start</a:t>
            </a:r>
            <a:endParaRPr lang="en-US" dirty="0" smtClean="0"/>
          </a:p>
          <a:p>
            <a:r>
              <a:rPr lang="en-US" dirty="0" smtClean="0"/>
              <a:t>  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38803" y="22538"/>
            <a:ext cx="762530" cy="53548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797" tIns="20899" rIns="41797" bIns="20899"/>
          <a:lstStyle/>
          <a:p>
            <a:r>
              <a:rPr lang="en-US" dirty="0" err="1" smtClean="0"/>
              <a:t>Mapname_tbl</a:t>
            </a:r>
            <a:endParaRPr lang="en-US" dirty="0" smtClean="0"/>
          </a:p>
          <a:p>
            <a:r>
              <a:rPr lang="en-US" dirty="0" smtClean="0"/>
              <a:t>  name</a:t>
            </a:r>
          </a:p>
          <a:p>
            <a:r>
              <a:rPr lang="en-US" dirty="0" smtClean="0"/>
              <a:t>  index</a:t>
            </a:r>
          </a:p>
          <a:p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2688011" y="22581"/>
            <a:ext cx="684899" cy="692478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797" tIns="20899" rIns="41797" bIns="20899" anchor="ctr"/>
          <a:lstStyle/>
          <a:p>
            <a:r>
              <a:rPr lang="en-US" dirty="0" err="1" smtClean="0"/>
              <a:t>Map_tbl</a:t>
            </a:r>
            <a:endParaRPr lang="en-US" dirty="0" smtClean="0"/>
          </a:p>
          <a:p>
            <a:r>
              <a:rPr lang="en-US" dirty="0" smtClean="0"/>
              <a:t>  marker</a:t>
            </a:r>
          </a:p>
          <a:p>
            <a:r>
              <a:rPr lang="en-US" dirty="0" smtClean="0"/>
              <a:t>  index</a:t>
            </a:r>
          </a:p>
          <a:p>
            <a:r>
              <a:rPr lang="en-US" dirty="0" smtClean="0"/>
              <a:t>  position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1447272" y="1018659"/>
            <a:ext cx="632070" cy="774821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797" tIns="20899" rIns="41797" bIns="20899" anchor="ctr"/>
          <a:lstStyle/>
          <a:p>
            <a:endParaRPr lang="en-US" dirty="0" smtClean="0"/>
          </a:p>
          <a:p>
            <a:r>
              <a:rPr lang="en-US" dirty="0" err="1" smtClean="0"/>
              <a:t>Marker_tbl</a:t>
            </a:r>
            <a:endParaRPr lang="en-US" dirty="0" smtClean="0"/>
          </a:p>
          <a:p>
            <a:r>
              <a:rPr lang="en-US" dirty="0" smtClean="0"/>
              <a:t>  position</a:t>
            </a:r>
          </a:p>
          <a:p>
            <a:r>
              <a:rPr lang="en-US" dirty="0" smtClean="0"/>
              <a:t>  name</a:t>
            </a:r>
          </a:p>
          <a:p>
            <a:r>
              <a:rPr lang="en-US" dirty="0" smtClean="0"/>
              <a:t>  </a:t>
            </a:r>
            <a:r>
              <a:rPr lang="en-US" dirty="0" err="1" smtClean="0"/>
              <a:t>chrom</a:t>
            </a:r>
            <a:endParaRPr lang="en-US" dirty="0" smtClean="0"/>
          </a:p>
          <a:p>
            <a:r>
              <a:rPr lang="en-US" dirty="0" smtClean="0"/>
              <a:t>   locus</a:t>
            </a:r>
          </a:p>
          <a:p>
            <a:endParaRPr lang="en-US" dirty="0" smtClean="0"/>
          </a:p>
        </p:txBody>
      </p:sp>
      <p:sp>
        <p:nvSpPr>
          <p:cNvPr id="11" name="Rounded Rectangle 10"/>
          <p:cNvSpPr/>
          <p:nvPr/>
        </p:nvSpPr>
        <p:spPr>
          <a:xfrm>
            <a:off x="2614605" y="2059123"/>
            <a:ext cx="758305" cy="53548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797" tIns="20899" rIns="41797" bIns="20899" anchor="t"/>
          <a:lstStyle/>
          <a:p>
            <a:pPr algn="ctr"/>
            <a:r>
              <a:rPr lang="en-US" dirty="0" err="1" smtClean="0"/>
              <a:t>Ugenotype_tbl</a:t>
            </a:r>
            <a:endParaRPr lang="en-US" dirty="0" smtClean="0"/>
          </a:p>
          <a:p>
            <a:r>
              <a:rPr lang="en-US" dirty="0" smtClean="0"/>
              <a:t>  person</a:t>
            </a:r>
          </a:p>
          <a:p>
            <a:r>
              <a:rPr lang="en-US" dirty="0" smtClean="0"/>
              <a:t>  data</a:t>
            </a:r>
          </a:p>
          <a:p>
            <a:endParaRPr lang="en-US" dirty="0" smtClean="0"/>
          </a:p>
        </p:txBody>
      </p:sp>
      <p:sp>
        <p:nvSpPr>
          <p:cNvPr id="20" name="Right Arrow 19"/>
          <p:cNvSpPr>
            <a:spLocks noChangeAspect="1"/>
          </p:cNvSpPr>
          <p:nvPr/>
        </p:nvSpPr>
        <p:spPr>
          <a:xfrm>
            <a:off x="2354859" y="334418"/>
            <a:ext cx="227670" cy="289342"/>
          </a:xfrm>
          <a:prstGeom prst="rightArrow">
            <a:avLst/>
          </a:prstGeom>
          <a:gradFill>
            <a:gsLst>
              <a:gs pos="47000">
                <a:schemeClr val="accent1">
                  <a:tint val="100000"/>
                  <a:shade val="100000"/>
                  <a:satMod val="130000"/>
                  <a:alpha val="47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  <a:alpha val="49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ight Arrow 23"/>
          <p:cNvSpPr>
            <a:spLocks noChangeAspect="1"/>
          </p:cNvSpPr>
          <p:nvPr/>
        </p:nvSpPr>
        <p:spPr>
          <a:xfrm rot="8100000">
            <a:off x="2391383" y="753180"/>
            <a:ext cx="227670" cy="289342"/>
          </a:xfrm>
          <a:prstGeom prst="rightArrow">
            <a:avLst/>
          </a:prstGeom>
          <a:gradFill>
            <a:gsLst>
              <a:gs pos="47000">
                <a:schemeClr val="accent1">
                  <a:tint val="100000"/>
                  <a:shade val="100000"/>
                  <a:satMod val="130000"/>
                  <a:alpha val="47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  <a:alpha val="49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Rounded Rectangle 24"/>
          <p:cNvSpPr/>
          <p:nvPr/>
        </p:nvSpPr>
        <p:spPr>
          <a:xfrm>
            <a:off x="2614605" y="1158059"/>
            <a:ext cx="758305" cy="53548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797" tIns="20899" rIns="41797" bIns="20899" anchor="ctr"/>
          <a:lstStyle/>
          <a:p>
            <a:r>
              <a:rPr lang="en-US" dirty="0" err="1" smtClean="0"/>
              <a:t>Phenotype_tbl</a:t>
            </a:r>
            <a:endParaRPr lang="en-US" dirty="0" smtClean="0"/>
          </a:p>
          <a:p>
            <a:r>
              <a:rPr lang="en-US" dirty="0" smtClean="0"/>
              <a:t>  person</a:t>
            </a:r>
          </a:p>
          <a:p>
            <a:r>
              <a:rPr lang="en-US" dirty="0" smtClean="0"/>
              <a:t> 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3032" y="1793480"/>
            <a:ext cx="698773" cy="667277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797" tIns="20899" rIns="41797" bIns="20899"/>
          <a:lstStyle/>
          <a:p>
            <a:r>
              <a:rPr lang="en-US" dirty="0" err="1" smtClean="0"/>
              <a:t>ucsc.hgxx</a:t>
            </a:r>
            <a:r>
              <a:rPr lang="en-US" dirty="0" err="1" smtClean="0"/>
              <a:t>_tbl</a:t>
            </a:r>
            <a:endParaRPr lang="en-US" dirty="0" smtClean="0"/>
          </a:p>
          <a:p>
            <a:r>
              <a:rPr lang="en-US" dirty="0" smtClean="0"/>
              <a:t>  gene</a:t>
            </a:r>
          </a:p>
          <a:p>
            <a:r>
              <a:rPr lang="en-US" dirty="0" smtClean="0"/>
              <a:t>  start</a:t>
            </a:r>
            <a:endParaRPr lang="en-US" dirty="0" smtClean="0"/>
          </a:p>
          <a:p>
            <a:r>
              <a:rPr lang="en-US" dirty="0" smtClean="0"/>
              <a:t>  end</a:t>
            </a:r>
          </a:p>
        </p:txBody>
      </p:sp>
      <p:sp>
        <p:nvSpPr>
          <p:cNvPr id="23" name="Right Arrow 22"/>
          <p:cNvSpPr>
            <a:spLocks noChangeAspect="1"/>
          </p:cNvSpPr>
          <p:nvPr/>
        </p:nvSpPr>
        <p:spPr>
          <a:xfrm rot="18900000">
            <a:off x="960762" y="1198035"/>
            <a:ext cx="227670" cy="289342"/>
          </a:xfrm>
          <a:prstGeom prst="rightArrow">
            <a:avLst/>
          </a:prstGeom>
          <a:gradFill>
            <a:gsLst>
              <a:gs pos="47000">
                <a:schemeClr val="accent1">
                  <a:tint val="100000"/>
                  <a:shade val="100000"/>
                  <a:satMod val="130000"/>
                  <a:alpha val="47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  <a:alpha val="49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7" name="Right Arrow 26"/>
          <p:cNvSpPr>
            <a:spLocks noChangeAspect="1"/>
          </p:cNvSpPr>
          <p:nvPr/>
        </p:nvSpPr>
        <p:spPr>
          <a:xfrm rot="17580000">
            <a:off x="1055646" y="1965270"/>
            <a:ext cx="217008" cy="303560"/>
          </a:xfrm>
          <a:prstGeom prst="rightArrow">
            <a:avLst/>
          </a:prstGeom>
          <a:gradFill>
            <a:gsLst>
              <a:gs pos="47000">
                <a:schemeClr val="accent1">
                  <a:tint val="100000"/>
                  <a:shade val="100000"/>
                  <a:satMod val="130000"/>
                  <a:alpha val="47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  <a:alpha val="49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Rounded Rectangle 28"/>
          <p:cNvSpPr/>
          <p:nvPr/>
        </p:nvSpPr>
        <p:spPr>
          <a:xfrm>
            <a:off x="1447272" y="1957866"/>
            <a:ext cx="632070" cy="774821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797" tIns="20899" rIns="41797" bIns="20899" anchor="ctr"/>
          <a:lstStyle/>
          <a:p>
            <a:endParaRPr lang="en-US" dirty="0" smtClean="0"/>
          </a:p>
          <a:p>
            <a:r>
              <a:rPr lang="en-US" dirty="0" err="1" smtClean="0"/>
              <a:t>person_tbl</a:t>
            </a:r>
            <a:endParaRPr lang="en-US" dirty="0" smtClean="0"/>
          </a:p>
          <a:p>
            <a:r>
              <a:rPr lang="en-US" dirty="0" smtClean="0"/>
              <a:t>  id</a:t>
            </a:r>
          </a:p>
          <a:p>
            <a:r>
              <a:rPr lang="en-US" dirty="0" smtClean="0"/>
              <a:t>  name</a:t>
            </a:r>
          </a:p>
          <a:p>
            <a:r>
              <a:rPr lang="en-US" dirty="0" smtClean="0"/>
              <a:t>  pedigree</a:t>
            </a:r>
          </a:p>
          <a:p>
            <a:r>
              <a:rPr lang="en-US" dirty="0" smtClean="0"/>
              <a:t>    info</a:t>
            </a:r>
          </a:p>
          <a:p>
            <a:r>
              <a:rPr lang="en-US" dirty="0" smtClean="0"/>
              <a:t>  person</a:t>
            </a:r>
          </a:p>
          <a:p>
            <a:endParaRPr lang="en-US" dirty="0" smtClean="0"/>
          </a:p>
        </p:txBody>
      </p:sp>
      <p:sp>
        <p:nvSpPr>
          <p:cNvPr id="30" name="Rounded Rectangle 29"/>
          <p:cNvSpPr/>
          <p:nvPr/>
        </p:nvSpPr>
        <p:spPr>
          <a:xfrm>
            <a:off x="422916" y="2978735"/>
            <a:ext cx="1931943" cy="22034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797" tIns="20899" rIns="41797" bIns="20899" anchor="ctr"/>
          <a:lstStyle/>
          <a:p>
            <a:r>
              <a:rPr lang="en-US" dirty="0" smtClean="0"/>
              <a:t>Person1            . . . . 0/0 1/0 0/1 1/1 ….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8243" y="3137492"/>
            <a:ext cx="1988959" cy="22034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797" tIns="20899" rIns="41797" bIns="20899" anchor="ctr"/>
          <a:lstStyle/>
          <a:p>
            <a:r>
              <a:rPr lang="en-US" dirty="0" smtClean="0"/>
              <a:t>Person2            . . . . 0/0 1/0 0/1 1/1 ….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3725" y="3357837"/>
            <a:ext cx="2074286" cy="22034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797" tIns="20899" rIns="41797" bIns="20899" anchor="ctr"/>
          <a:lstStyle/>
          <a:p>
            <a:r>
              <a:rPr lang="en-US" dirty="0" err="1" smtClean="0"/>
              <a:t>Personn</a:t>
            </a:r>
            <a:r>
              <a:rPr lang="en-US" dirty="0" smtClean="0"/>
              <a:t>            . . . . 0/0 1/0 0/1 1/1 ….</a:t>
            </a:r>
          </a:p>
        </p:txBody>
      </p:sp>
      <p:cxnSp>
        <p:nvCxnSpPr>
          <p:cNvPr id="34" name="Elbow Connector 33"/>
          <p:cNvCxnSpPr/>
          <p:nvPr/>
        </p:nvCxnSpPr>
        <p:spPr>
          <a:xfrm rot="10800000" flipV="1">
            <a:off x="422916" y="2732687"/>
            <a:ext cx="1118245" cy="404805"/>
          </a:xfrm>
          <a:prstGeom prst="bentConnector3">
            <a:avLst>
              <a:gd name="adj1" fmla="val 120443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rot="5400000">
            <a:off x="967324" y="2153208"/>
            <a:ext cx="1649464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2807778" y="2787529"/>
            <a:ext cx="632070" cy="774821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797" tIns="20899" rIns="41797" bIns="20899" anchor="ctr"/>
          <a:lstStyle/>
          <a:p>
            <a:r>
              <a:rPr lang="en-US" dirty="0" err="1" smtClean="0"/>
              <a:t>Allele_tbl</a:t>
            </a:r>
            <a:endParaRPr lang="en-US" dirty="0" smtClean="0"/>
          </a:p>
          <a:p>
            <a:r>
              <a:rPr lang="en-US" dirty="0" smtClean="0"/>
              <a:t>  name</a:t>
            </a:r>
          </a:p>
          <a:p>
            <a:r>
              <a:rPr lang="en-US" dirty="0" smtClean="0"/>
              <a:t>  locus</a:t>
            </a:r>
          </a:p>
          <a:p>
            <a:r>
              <a:rPr lang="en-US" dirty="0" smtClean="0"/>
              <a:t>  frequency</a:t>
            </a:r>
          </a:p>
          <a:p>
            <a:r>
              <a:rPr lang="en-US" dirty="0" smtClean="0"/>
              <a:t>  index</a:t>
            </a:r>
          </a:p>
          <a:p>
            <a:endParaRPr lang="en-US" dirty="0" smtClean="0"/>
          </a:p>
        </p:txBody>
      </p:sp>
      <p:sp>
        <p:nvSpPr>
          <p:cNvPr id="41" name="Right Arrow 40"/>
          <p:cNvSpPr>
            <a:spLocks noChangeAspect="1"/>
          </p:cNvSpPr>
          <p:nvPr/>
        </p:nvSpPr>
        <p:spPr>
          <a:xfrm>
            <a:off x="2574175" y="3054409"/>
            <a:ext cx="227670" cy="289342"/>
          </a:xfrm>
          <a:prstGeom prst="rightArrow">
            <a:avLst/>
          </a:prstGeom>
          <a:gradFill>
            <a:gsLst>
              <a:gs pos="47000">
                <a:schemeClr val="accent1">
                  <a:tint val="100000"/>
                  <a:shade val="100000"/>
                  <a:satMod val="130000"/>
                  <a:alpha val="47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  <a:alpha val="49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1253</TotalTime>
  <Words>129</Words>
  <Application>Microsoft Macintosh PowerPoint</Application>
  <PresentationFormat>Custom</PresentationFormat>
  <Paragraphs>46</Paragraphs>
  <Slides>1</Slides>
  <Notes>0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>University of Pittsburgh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Robert V. Baron</dc:creator>
  <cp:lastModifiedBy>Robert V. Baron</cp:lastModifiedBy>
  <cp:revision>11</cp:revision>
  <cp:lastPrinted>2019-01-16T19:18:44Z</cp:lastPrinted>
  <dcterms:created xsi:type="dcterms:W3CDTF">2019-01-22T19:31:02Z</dcterms:created>
  <dcterms:modified xsi:type="dcterms:W3CDTF">2019-01-23T15:07:54Z</dcterms:modified>
</cp:coreProperties>
</file>